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e7a212a3c42ee" /><Relationship Type="http://schemas.openxmlformats.org/officeDocument/2006/relationships/extended-properties" Target="/docProps/app.xml" Id="R35f776c3d4864c37" /><Relationship Type="http://schemas.openxmlformats.org/officeDocument/2006/relationships/officeDocument" Target="/ppt/presentation.xml" Id="Ra2eb4cdfd7aa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b7ebfe2934995"/>
  </p:sldMasterIdLst>
  <p:notesMasterIdLst>
    <p:notesMasterId xmlns:r="http://schemas.openxmlformats.org/officeDocument/2006/relationships" r:id="R1d2ca7e4f4344a04"/>
  </p:notesMasterIdLst>
  <p:sldIdLst>
    <p:sldId xmlns:r="http://schemas.openxmlformats.org/officeDocument/2006/relationships" id="256" r:id="Ra526f4697a154f5d"/>
    <p:sldId xmlns:r="http://schemas.openxmlformats.org/officeDocument/2006/relationships" id="257" r:id="Rac7dce0b3ead4d10"/>
    <p:sldId xmlns:r="http://schemas.openxmlformats.org/officeDocument/2006/relationships" id="258" r:id="R600587f84b464dad"/>
    <p:sldId xmlns:r="http://schemas.openxmlformats.org/officeDocument/2006/relationships" id="259" r:id="Rc141c482ce32420c"/>
    <p:sldId xmlns:r="http://schemas.openxmlformats.org/officeDocument/2006/relationships" id="260" r:id="R6a18a758e8b8497d"/>
    <p:sldId xmlns:r="http://schemas.openxmlformats.org/officeDocument/2006/relationships" id="261" r:id="Rec29350ba4124f00"/>
    <p:sldId xmlns:r="http://schemas.openxmlformats.org/officeDocument/2006/relationships" id="262" r:id="R3a2e4284994b4119"/>
    <p:sldId xmlns:r="http://schemas.openxmlformats.org/officeDocument/2006/relationships" id="263" r:id="Rd6fcbe4bf1664c89"/>
    <p:sldId xmlns:r="http://schemas.openxmlformats.org/officeDocument/2006/relationships" id="264" r:id="Ra50b4feaecff4498"/>
    <p:sldId xmlns:r="http://schemas.openxmlformats.org/officeDocument/2006/relationships" id="265" r:id="R526ee33449c24314"/>
    <p:sldId xmlns:r="http://schemas.openxmlformats.org/officeDocument/2006/relationships" id="266" r:id="R372f2661b00049e6"/>
    <p:sldId xmlns:r="http://schemas.openxmlformats.org/officeDocument/2006/relationships" id="267" r:id="Re45a1eb56e1241ba"/>
    <p:sldId xmlns:r="http://schemas.openxmlformats.org/officeDocument/2006/relationships" id="268" r:id="Rae4c5d9466ca41cd"/>
    <p:sldId xmlns:r="http://schemas.openxmlformats.org/officeDocument/2006/relationships" id="269" r:id="Rb4587e22147140b3"/>
    <p:sldId xmlns:r="http://schemas.openxmlformats.org/officeDocument/2006/relationships" id="270" r:id="Rf6f463a367c1435d"/>
    <p:sldId xmlns:r="http://schemas.openxmlformats.org/officeDocument/2006/relationships" id="271" r:id="R8331f09da8d442c6"/>
    <p:sldId xmlns:r="http://schemas.openxmlformats.org/officeDocument/2006/relationships" id="272" r:id="Ra2277a5795774894"/>
    <p:sldId xmlns:r="http://schemas.openxmlformats.org/officeDocument/2006/relationships" id="273" r:id="R6292309219fb4ddd"/>
    <p:sldId xmlns:r="http://schemas.openxmlformats.org/officeDocument/2006/relationships" id="274" r:id="R7353c52058224722"/>
    <p:sldId xmlns:r="http://schemas.openxmlformats.org/officeDocument/2006/relationships" id="275" r:id="Rdd035212e9624a0e"/>
    <p:sldId xmlns:r="http://schemas.openxmlformats.org/officeDocument/2006/relationships" id="276" r:id="Rb4f14d08d2a440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d88ac1e45450e" /><Relationship Type="http://schemas.openxmlformats.org/officeDocument/2006/relationships/slideMaster" Target="/ppt/slideMasters/slideMaster1.xml" Id="R178b7ebfe2934995" /><Relationship Type="http://schemas.openxmlformats.org/officeDocument/2006/relationships/notesMaster" Target="/ppt/notesMasters/notesMaster1.xml" Id="R1d2ca7e4f4344a04" /><Relationship Type="http://schemas.openxmlformats.org/officeDocument/2006/relationships/presProps" Target="/ppt/presProps.xml" Id="R098144d7265640f0" /><Relationship Type="http://schemas.openxmlformats.org/officeDocument/2006/relationships/tableStyles" Target="/ppt/tableStyles.xml" Id="R00754b9e7e164833" /><Relationship Type="http://schemas.openxmlformats.org/officeDocument/2006/relationships/slide" Target="/ppt/slides/slide1.xml" Id="Ra526f4697a154f5d" /><Relationship Type="http://schemas.openxmlformats.org/officeDocument/2006/relationships/slide" Target="/ppt/slides/slide2.xml" Id="Rac7dce0b3ead4d10" /><Relationship Type="http://schemas.openxmlformats.org/officeDocument/2006/relationships/slide" Target="/ppt/slides/slide3.xml" Id="R600587f84b464dad" /><Relationship Type="http://schemas.openxmlformats.org/officeDocument/2006/relationships/slide" Target="/ppt/slides/slide4.xml" Id="Rc141c482ce32420c" /><Relationship Type="http://schemas.openxmlformats.org/officeDocument/2006/relationships/slide" Target="/ppt/slides/slide5.xml" Id="R6a18a758e8b8497d" /><Relationship Type="http://schemas.openxmlformats.org/officeDocument/2006/relationships/slide" Target="/ppt/slides/slide6.xml" Id="Rec29350ba4124f00" /><Relationship Type="http://schemas.openxmlformats.org/officeDocument/2006/relationships/slide" Target="/ppt/slides/slide7.xml" Id="R3a2e4284994b4119" /><Relationship Type="http://schemas.openxmlformats.org/officeDocument/2006/relationships/slide" Target="/ppt/slides/slide8.xml" Id="Rd6fcbe4bf1664c89" /><Relationship Type="http://schemas.openxmlformats.org/officeDocument/2006/relationships/slide" Target="/ppt/slides/slide9.xml" Id="Ra50b4feaecff4498" /><Relationship Type="http://schemas.openxmlformats.org/officeDocument/2006/relationships/slide" Target="/ppt/slides/slide10.xml" Id="R526ee33449c24314" /><Relationship Type="http://schemas.openxmlformats.org/officeDocument/2006/relationships/slide" Target="/ppt/slides/slide11.xml" Id="R372f2661b00049e6" /><Relationship Type="http://schemas.openxmlformats.org/officeDocument/2006/relationships/slide" Target="/ppt/slides/slide12.xml" Id="Re45a1eb56e1241ba" /><Relationship Type="http://schemas.openxmlformats.org/officeDocument/2006/relationships/slide" Target="/ppt/slides/slide13.xml" Id="Rae4c5d9466ca41cd" /><Relationship Type="http://schemas.openxmlformats.org/officeDocument/2006/relationships/slide" Target="/ppt/slides/slide14.xml" Id="Rb4587e22147140b3" /><Relationship Type="http://schemas.openxmlformats.org/officeDocument/2006/relationships/slide" Target="/ppt/slides/slide15.xml" Id="Rf6f463a367c1435d" /><Relationship Type="http://schemas.openxmlformats.org/officeDocument/2006/relationships/slide" Target="/ppt/slides/slide16.xml" Id="R8331f09da8d442c6" /><Relationship Type="http://schemas.openxmlformats.org/officeDocument/2006/relationships/slide" Target="/ppt/slides/slide17.xml" Id="Ra2277a5795774894" /><Relationship Type="http://schemas.openxmlformats.org/officeDocument/2006/relationships/slide" Target="/ppt/slides/slide18.xml" Id="R6292309219fb4ddd" /><Relationship Type="http://schemas.openxmlformats.org/officeDocument/2006/relationships/slide" Target="/ppt/slides/slide19.xml" Id="R7353c52058224722" /><Relationship Type="http://schemas.openxmlformats.org/officeDocument/2006/relationships/slide" Target="/ppt/slides/slide20.xml" Id="Rdd035212e9624a0e" /><Relationship Type="http://schemas.openxmlformats.org/officeDocument/2006/relationships/slide" Target="/ppt/slides/slide21.xml" Id="Rb4f14d08d2a440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388307e73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739f325f840ec" /><Relationship Type="http://schemas.openxmlformats.org/officeDocument/2006/relationships/notesMaster" Target="/ppt/notesMasters/notesMaster1.xml" Id="R4d9cce8dda9f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1be004a8594cc1" /><Relationship Type="http://schemas.openxmlformats.org/officeDocument/2006/relationships/notesMaster" Target="/ppt/notesMasters/notesMaster1.xml" Id="Rfad893a557f7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5f2c5c21fc4fce" /><Relationship Type="http://schemas.openxmlformats.org/officeDocument/2006/relationships/notesMaster" Target="/ppt/notesMasters/notesMaster1.xml" Id="R162fdd93c50f40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07c18436049ef" /><Relationship Type="http://schemas.openxmlformats.org/officeDocument/2006/relationships/notesMaster" Target="/ppt/notesMasters/notesMaster1.xml" Id="R29170bd7137c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01a46e98f34bf0" /><Relationship Type="http://schemas.openxmlformats.org/officeDocument/2006/relationships/notesMaster" Target="/ppt/notesMasters/notesMaster1.xml" Id="R1b1f4847d387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ad9374afcc422c" /><Relationship Type="http://schemas.openxmlformats.org/officeDocument/2006/relationships/notesMaster" Target="/ppt/notesMasters/notesMaster1.xml" Id="R2b771c6e6a3f4b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58cb2cc86a4565" /><Relationship Type="http://schemas.openxmlformats.org/officeDocument/2006/relationships/notesMaster" Target="/ppt/notesMasters/notesMaster1.xml" Id="Ra731f472c9af47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8aa485148e4b53" /><Relationship Type="http://schemas.openxmlformats.org/officeDocument/2006/relationships/notesMaster" Target="/ppt/notesMasters/notesMaster1.xml" Id="R854a510fec4046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2ec1e329b4b0b" /><Relationship Type="http://schemas.openxmlformats.org/officeDocument/2006/relationships/notesMaster" Target="/ppt/notesMasters/notesMaster1.xml" Id="R5174cd736c33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8b647243f44c59" /><Relationship Type="http://schemas.openxmlformats.org/officeDocument/2006/relationships/notesMaster" Target="/ppt/notesMasters/notesMaster1.xml" Id="R123d649133a2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f7debc7e3c40ac" /><Relationship Type="http://schemas.openxmlformats.org/officeDocument/2006/relationships/notesMaster" Target="/ppt/notesMasters/notesMaster1.xml" Id="R4bcde18849334a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dcba28e6ae4a8d" /><Relationship Type="http://schemas.openxmlformats.org/officeDocument/2006/relationships/notesMaster" Target="/ppt/notesMasters/notesMaster1.xml" Id="Rea01d36ff6504c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c9d40f840f4019" /><Relationship Type="http://schemas.openxmlformats.org/officeDocument/2006/relationships/notesMaster" Target="/ppt/notesMasters/notesMaster1.xml" Id="Rc470f18970c04b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5353431b9b4cdc" /><Relationship Type="http://schemas.openxmlformats.org/officeDocument/2006/relationships/notesMaster" Target="/ppt/notesMasters/notesMaster1.xml" Id="R0a30b46a2f21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b063922a7343d4" /><Relationship Type="http://schemas.openxmlformats.org/officeDocument/2006/relationships/notesMaster" Target="/ppt/notesMasters/notesMaster1.xml" Id="R5e72a640080749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74ad4dad074d9f" /><Relationship Type="http://schemas.openxmlformats.org/officeDocument/2006/relationships/notesMaster" Target="/ppt/notesMasters/notesMaster1.xml" Id="R0bd12d248a2e4c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5820fc619a412c" /><Relationship Type="http://schemas.openxmlformats.org/officeDocument/2006/relationships/notesMaster" Target="/ppt/notesMasters/notesMaster1.xml" Id="Rae130f85bc4946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9c162ad1a04daa" /><Relationship Type="http://schemas.openxmlformats.org/officeDocument/2006/relationships/notesMaster" Target="/ppt/notesMasters/notesMaster1.xml" Id="Racf57c1ff1d4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e96ec1a8984b2d" /><Relationship Type="http://schemas.openxmlformats.org/officeDocument/2006/relationships/notesMaster" Target="/ppt/notesMasters/notesMaster1.xml" Id="Rb3c7e97424d042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776293b83b42ff" /><Relationship Type="http://schemas.openxmlformats.org/officeDocument/2006/relationships/notesMaster" Target="/ppt/notesMasters/notesMaster1.xml" Id="R2729eada1aa546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0e82d31cd24fad" /><Relationship Type="http://schemas.openxmlformats.org/officeDocument/2006/relationships/notesMaster" Target="/ppt/notesMasters/notesMaster1.xml" Id="R9de82dc7d2f2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발표집 표지_임채현.hwp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요구 구성 반영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제안배경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고령자 낙상사고: 한국소비자원. 손상환자 통계: 질병관리청. 간병 인력: 라포르시안.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STP 전략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유사 제품 현황 및 비교, 차별성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시작화면.png,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설계과정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수행 방법, IoT 회로구성 설계서_임채현.hwp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요구사항 정의서_임채현.hwp FR-AD-600, FR-AD-601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테이블명세서_임채현.hwp</a:t>
            </a:r>
          </a:p>
          <a:p xmlns:a="http://schemas.openxmlformats.org/drawingml/2006/main">
            <a:r>
              <a:t>주요 운영 테이블 간 FK 관계만 단순화해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내용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기술 스택.png,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IoT 회로구성 설계서_임채현.hwp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시스템 아키텍처.png,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간호사 대시보드.png, 관리자 대시보드.png, 조치 기록.png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영상 파일 미제공 상태. 발표 시 실제 영상 삽입 필요. 시연 순서는 요구사항 정의서 및 화면설계서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수행 방법, 대화 중 UI 수정 내역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기대효과 및 활용방안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단체사진.jpg, 프로젝트기획서_임채현.hwp 참여 인원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8a0ab940645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e8a8e94d748a7" /><Relationship Type="http://schemas.openxmlformats.org/officeDocument/2006/relationships/slideLayout" Target="/ppt/slideLayouts/slideLayout1.xml" Id="R328c1b30980543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c1b30980543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da68eb9d4cab" /><Relationship Type="http://schemas.openxmlformats.org/officeDocument/2006/relationships/notesSlide" Target="/ppt/notesSlides/notesSlide1.xml" Id="R664fcc0b44bb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7b78984ea4295" /><Relationship Type="http://schemas.openxmlformats.org/officeDocument/2006/relationships/notesSlide" Target="/ppt/notesSlides/notesSlide2.xml" Id="R1e9f56b45ec44a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aef9553c545b8" /><Relationship Type="http://schemas.openxmlformats.org/officeDocument/2006/relationships/notesSlide" Target="/ppt/notesSlides/notesSlide3.xml" Id="Rcccd82debd80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5d9bef4a54bfe" /><Relationship Type="http://schemas.openxmlformats.org/officeDocument/2006/relationships/notesSlide" Target="/ppt/notesSlides/notesSlide4.xml" Id="Ra7fd9b9bbe06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18b45a094965" /><Relationship Type="http://schemas.openxmlformats.org/officeDocument/2006/relationships/notesSlide" Target="/ppt/notesSlides/notesSlide5.xml" Id="R3fe6c8bf740f44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3598341894cd8" /><Relationship Type="http://schemas.openxmlformats.org/officeDocument/2006/relationships/notesSlide" Target="/ppt/notesSlides/notesSlide6.xml" Id="R39a3a46a58b2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8fe9669ec4ab5" /><Relationship Type="http://schemas.openxmlformats.org/officeDocument/2006/relationships/image" Target="/ppt/media/image.png" Id="Rb16dbffaffd94b44" /><Relationship Type="http://schemas.openxmlformats.org/officeDocument/2006/relationships/notesSlide" Target="/ppt/notesSlides/notesSlide7.xml" Id="Rb773bb9822e448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3ed19e6e94899" /><Relationship Type="http://schemas.openxmlformats.org/officeDocument/2006/relationships/notesSlide" Target="/ppt/notesSlides/notesSlide8.xml" Id="Rb73fb8a35653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b7df6b784cba" /><Relationship Type="http://schemas.openxmlformats.org/officeDocument/2006/relationships/notesSlide" Target="/ppt/notesSlides/notesSlide9.xml" Id="Rca4f32a77f7b45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ec0a5fccd4fbb" /><Relationship Type="http://schemas.openxmlformats.org/officeDocument/2006/relationships/notesSlide" Target="/ppt/notesSlides/notesSlide10.xml" Id="Ra99c6d180bae43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5555db81e4fc6" /><Relationship Type="http://schemas.openxmlformats.org/officeDocument/2006/relationships/notesSlide" Target="/ppt/notesSlides/notesSlide11.xml" Id="R0d0ed830d95b4a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b7956d8dd42dc" /><Relationship Type="http://schemas.openxmlformats.org/officeDocument/2006/relationships/notesSlide" Target="/ppt/notesSlides/notesSlide12.xml" Id="R071dc6aae64140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86b906932414f" /><Relationship Type="http://schemas.openxmlformats.org/officeDocument/2006/relationships/image" Target="/ppt/media/image2.png" Id="R6ea2f22f0a404368" /><Relationship Type="http://schemas.openxmlformats.org/officeDocument/2006/relationships/notesSlide" Target="/ppt/notesSlides/notesSlide13.xml" Id="R61573f97c17b43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060441f304aa1" /><Relationship Type="http://schemas.openxmlformats.org/officeDocument/2006/relationships/notesSlide" Target="/ppt/notesSlides/notesSlide14.xml" Id="R3077fd69f43e44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a23ee82724768" /><Relationship Type="http://schemas.openxmlformats.org/officeDocument/2006/relationships/image" Target="/ppt/media/image3.png" Id="R57f631fb0a7b4c30" /><Relationship Type="http://schemas.openxmlformats.org/officeDocument/2006/relationships/notesSlide" Target="/ppt/notesSlides/notesSlide15.xml" Id="R924431e4ac5e4d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4f350486043cc" /><Relationship Type="http://schemas.openxmlformats.org/officeDocument/2006/relationships/image" Target="/ppt/media/image4.png" Id="Red8bef0e3167496b" /><Relationship Type="http://schemas.openxmlformats.org/officeDocument/2006/relationships/image" Target="/ppt/media/image5.png" Id="Rd52bcc802ce54089" /><Relationship Type="http://schemas.openxmlformats.org/officeDocument/2006/relationships/image" Target="/ppt/media/image6.png" Id="Rea0f2ccc9fdb4e1a" /><Relationship Type="http://schemas.openxmlformats.org/officeDocument/2006/relationships/notesSlide" Target="/ppt/notesSlides/notesSlide16.xml" Id="R0d9777d7dab541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bfef936bd483f" /><Relationship Type="http://schemas.openxmlformats.org/officeDocument/2006/relationships/notesSlide" Target="/ppt/notesSlides/notesSlide17.xml" Id="R208f127e7a5145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bc52214524fd3" /><Relationship Type="http://schemas.openxmlformats.org/officeDocument/2006/relationships/notesSlide" Target="/ppt/notesSlides/notesSlide18.xml" Id="R57c28775e1d143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70d1196da4db0" /><Relationship Type="http://schemas.openxmlformats.org/officeDocument/2006/relationships/notesSlide" Target="/ppt/notesSlides/notesSlide19.xml" Id="R366bde18498748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a31e52534a6d" /><Relationship Type="http://schemas.openxmlformats.org/officeDocument/2006/relationships/image" Target="/ppt/media/image.jpeg" Id="Reb911c2b63e54171" /><Relationship Type="http://schemas.openxmlformats.org/officeDocument/2006/relationships/notesSlide" Target="/ppt/notesSlides/notesSlide20.xml" Id="Rc0bf8f50272b42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6504d1fba49e8" /><Relationship Type="http://schemas.openxmlformats.org/officeDocument/2006/relationships/notesSlide" Target="/ppt/notesSlides/notesSlide21.xml" Id="Rf12000fa8092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B33A6-7D2F-49B0-8F68-68B254B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742F1-A5A2-4F49-9D4C-FA2CD55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900CA-9F5E-4965-8B85-A6951AD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85932-AEB2-4694-AF4F-5A54677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8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시각지능 기반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위험상황 감지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45C86-26A3-442D-8BCC-B6064654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낙상 감지부터 현장 대응 기록까지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CB2EA-D671-4EA2-AA5B-28BA5B1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  |  2026. 10. 02.</a:t>
            </a:r>
          </a:p>
        </p:txBody>
      </p:sp>
    </p:spTree>
    <p:extLst>
      <p:ext uri="{BB962C8B-B14F-4D97-AF65-F5344CB8AC3E}">
        <p14:creationId xmlns:p14="http://schemas.microsoft.com/office/powerpoint/2010/main" val="1121017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E48C8-696A-4622-85C2-9BA01BB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F5E2-CB01-48B3-BB7E-3614FA54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발표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9519B-4467-42C1-9526-70FF279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D3BCE-3FA0-4107-ACCE-C33B3C69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F1FD2-9933-49E9-893D-4055B6A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7A810-B872-45A7-95B9-AA79F600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제안배경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4568-54A1-461D-B55B-7D833D6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097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필요성 · STP 분석 · 타겟 · 유사 서비스 · 차별성 · 제품 소개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07C2-5156-470C-B273-B9F7BDDF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87682-8AA9-4AB1-8296-A3DF224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ED4A0-2BC8-456C-8B49-50F269F1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설계과정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67F4B-559A-457B-850F-3B7D17C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챌린지 포인트 · 서비스 흐름도 · ER 다이어그램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227E8-6DF2-4C28-826E-5566272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782E5-956E-49BA-A2F5-F36DFAA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6F5BF-CD86-4CAB-938F-9693540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구현 내용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B1A1C-0556-49E3-8562-E596E9E4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86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사용 언어 및 도구 · 개발 내용 · 아키텍처 · 주요기능 · 시연 · 트러블 슈팅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D9EC1-C131-4073-B25F-F71688B4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91C0C-4109-4C6F-944E-8DE273E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136F5-9FD9-4476-B214-8A6E0C4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향후발전방향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BEF94-DF8B-4656-96B0-7B9493A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기대효과 및 활용방안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E5940-6B48-4AE8-8AFB-5C23E55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E174C-2E7C-485A-B44C-60F2346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15688-2B6F-4691-A0FB-52F6F641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팀 소개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2C048-A458-4065-9D52-3E29D5B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625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프로젝트 역할과 팀원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4EDDF-0EC1-4472-8B98-7B39BCEC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F0563-3847-43EF-8A6F-F8A7DCB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F7394-F1BF-434B-B37F-0D0FDA64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6106835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F9DA6-02A2-4AE0-9227-3521BBB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4E80A-BB97-4F16-8C9B-FC1D005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01  제안배경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428B8-B2D6-4444-AFED-A237DA3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문제의식과 서비스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6ED00-8111-405A-BB3C-E7EEF1EE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9188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6AC6F-B2A6-4E57-B582-0E35CC9E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9EDE0-9742-4A4C-8ABA-AEA65299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제안배경 · 필요성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E4D60-BB74-4108-99A5-5C39B9DA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B7401-3C43-471C-BBA0-2BECC86D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C1067-1720-472F-9111-E85812D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0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요양병원은 고령 환자의</a:t>
            </a:r>
          </a:p>
          <a:p xmlns:a="http://schemas.openxmlformats.org/drawingml/2006/main">
            <a:pPr algn="l">
              <a:def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상황을 빠르게 확인해야 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4649A-C6D3-45AA-A1DC-7B5B2218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환자의 낙상 위험은 높아지고, 제한된 인력은 여러 병실을 동시에 관찰해야 합니다.</a:t>
            </a:r>
          </a:p>
          <a:p xmlns:a="http://schemas.openxmlformats.org/drawingml/2006/main">
            <a:pPr algn="l">
              <a:def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기존 CCTV의 단순 관찰만으로는 위험 상황을 놓치기 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BDF7A-7758-454A-9F5C-8B628AF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5F5F6-8A47-4592-9B68-021EAE8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3.2배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3BAA7-7B3F-41A1-98FC-D1D35B5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2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65세 이상 낙상사고 증가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2020년 3,721건 → 2024년 11,866건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EA6FA-CC12-45DC-B30F-2938C09A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511A4-A9E8-4E60-94D2-22F2FD1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52.9%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E51DE-0135-4B27-BFFE-55740AD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2025년 응급실 입원 손상환자 중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60세 이상 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1B53A-E7BB-4FBD-AE97-C4D3938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0407E-2C08-49EB-A930-524EA6F4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3.8만 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21039-1C41-4FB4-8F50-7FAE9A38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요양병원 실제 활동 간병 인력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필요 인력 추산은 약 14만 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02648-D16C-4F85-A347-B5E0829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DBB78-84BE-464E-B036-EA0B336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해결 방향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061CC-858B-4849-B05F-E30FC70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720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낙상·낙상 의심·침대 이탈을 감지하고, 담당자에게 즉시 알려 현장 대응과 기록을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8711A-2364-40B9-B525-1CB8C50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4029C-DF6E-4A85-B5BF-4F7D404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721134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9B8DF-7892-4C93-80C1-DF81862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BB9B7-ED2C-4C7B-9430-CECBD05E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STP 분석과 타겟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D7A8-FF82-4D9E-802E-BDBEB0B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A4032-2A1B-4637-94D9-3ADC84A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B3E2F-C73A-4744-817D-AA27C3F9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2747F-06F3-486E-B9C6-F2EB4E3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Segmentation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97AB9-9133-4ACA-B725-27448735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요양병원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노인요양시설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재활병원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5B63D-64DE-4B4D-A57F-E3CEC18F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1B5C-A358-4D7A-9394-9AB05870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Targeting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9B1BD-8373-4A08-9849-99E127D5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1차 표적 시장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고객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제한된 인력으로 다수 환자를 돌보는 현장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670B4-ED4C-4CF9-9284-14E9519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E37A8-76FA-42E6-B1EA-3ECC445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Positioning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633F8-C7DD-441F-B450-25666F9C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웹캠과 Jetson으로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위험 상황을 감지하고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대시보드·SMS·조치기록으로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대응을 연결하는 안전관리 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AC8B1-44CC-45D9-9C1C-359F0DE2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핵심 타겟: 고령 환자 안전관리와 즉시 대응이 필요한 요양병원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746E8-0915-4A4E-9D06-CF35132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EC874-3F1B-48BB-8185-A93349C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768759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65AA1-6999-4311-8856-F3D8D06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38441-6335-404C-9058-410F3870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유사 서비스와 차별성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4CFE9-CEFD-4B77-885D-10B22628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CA6F2-0433-4919-B7ED-47E58E7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0F6F1-3EF8-42CF-BA14-06868B44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유사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E1AFE-9048-4903-AE56-FA0C6C6B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D2240-5987-4F36-86D2-0BEB40E0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Be:Clever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BFA99-1ACE-49FC-BA67-65E77C5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288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7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AI 영상분석 기반 낙상·이상행동 감지, 다중 병실 모니터링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C278-A878-4F81-8839-FE8F40E2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A4684-83FF-4A22-A15C-8D9992F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Vayyar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E84A3-5954-4B36-8B05-613CA863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4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4D 레이더 기반 낙상 감지, 재실 및 활동 패턴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56A2B-CFD9-4C05-B834-215A53D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ALLEYES 차별성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79C97-FE89-4B79-9352-9C9063C7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97EE3-3DC9-491B-9936-CD185FB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19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엣지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3D452-8556-493A-816A-5B2A441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웹캠 영상을 Jetson에서 분석하고 원본 영상 상시 전송을 줄임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9D93A-5B61-4649-B86D-535400EC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E036B-A73B-482A-A01D-C50809C0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알림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072CB-A9F0-4898-B8FA-D86FC28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확정 낙상은 병동 간호사와 담당 간병인에게 SMS 1회 발송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F5A5E-3E43-493F-9F42-B8DC10C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8F525-0B77-44F0-BD03-2E65E53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대응 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F449E-6E6C-4A8B-8AA3-186791BB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0527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대시보드 알림부터 현장 조치와 기록 조회까지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4649E-A120-4C30-937E-21C0E57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3DE5E-5485-4F29-A6F6-CA6030E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585916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1A6D7-2B08-4BA5-BF17-1701A455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BDD66-1BE0-46F6-8516-5A469519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제품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8DA1-CCCB-4D19-B724-A21551F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C8879-C689-43AF-8D1A-8F9B3E34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dbffaffd94b44"/>
          <a:stretch xmlns:a="http://schemas.openxmlformats.org/drawingml/2006/main"/>
        </p:blipFill>
        <p:spPr>
          <a:xfrm xmlns:a="http://schemas.openxmlformats.org/drawingml/2006/main">
            <a:off x="571500" y="1891297"/>
            <a:ext cx="6191250" cy="2942056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8CDB2-E2D1-4B5F-8A30-EC2839B6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B2466-0F14-4AD2-9137-C5D65B9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병동 통합 관제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B6A32-1630-45EA-9634-AD0BEA4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3CCD6-EA77-4A16-A41D-F23CA6B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4D378-B10E-458F-98D0-25D1AACF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낙상·낙상 의심·침대 이탈 자동 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E9B4B-0DAC-4F41-8077-5AC196B1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95D8B-F08B-4767-BEE7-70CE50E7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관제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1F8A0-C625-4BDE-A534-18E1135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병동 평면도와 알림 목록에서 발생 위치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D12F5-0C2A-4B2B-8223-81B510F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6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D8847-257B-476C-A995-64BFCDF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F1BAE-ECD5-413C-B0F4-5F29A03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확정 낙상 SMS 발송, 조치 등록과 이력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CA50D-2A70-4726-8714-4635969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D2582-C9FA-42BD-B92E-CE43AEA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0064790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76A93-D74F-48C5-BAF3-E12F0BE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CEF50-F73F-44D5-A9FB-82E39BE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02  설계과정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51D6-D54C-4201-B898-A80178D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조건을 반영한 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AFED6-553A-48D2-AF7C-F00DDD7C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8306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7AED1-770D-47A8-B30D-55C2EAE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9CB19-7345-416F-BAEB-CD37EDD9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챌린지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E1C55-CB29-4D63-AC2E-454CD33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FD659-7077-4381-81DD-02037E7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12711-E0EF-464B-9F41-4B7CD4C2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EDFD3-6728-44FB-BCE4-E42A4F1B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257EE-B0CC-47E7-9E75-B4FD8F4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낙상과 정상 행동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BB90F-623E-4EE2-B542-8866F427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낙상·낙상 의심은 자세 변화와 시간 구간 점수를 사용해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EB07A-6B22-41A0-82B9-3C5159F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F0B69-F86D-4C2B-83ED-50EAAB78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1930B-1178-4380-8AC2-66D6B80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 오경보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C20F4-4979-4EEC-B155-39FAE391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침대 ROI와 인물 위치, 경과 시간으로 실제 이탈 여부를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354CB-D461-42B3-B585-A8528F2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226C5-2A53-4295-B5C7-CE567C8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55FA4-D57F-4C44-9D37-E0817B2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제한된 엣지 자원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46CDE-1AB4-4769-B66A-0FB6B33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 Orin Nano에서 실제 카메라 조건의 처리 속도를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444AC-14FF-4E78-A091-A075184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76383-8D2E-4C69-844C-F31BE92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5D241-0939-4E3D-984F-9B2E7F46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576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감지 이후 대응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93889-E315-4036-9444-3E05607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대시보드 알림, SMS, 조치기록을 같은 이벤트 ID로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70FA8-4000-42BE-891F-D82E7730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929F9-C1A0-4615-A8A5-71888FB7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343074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FD050-A1FD-476A-BDAD-3620790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B42A5-754E-4F53-913E-49E8427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서비스 흐름도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D6BF0-98E2-4EC3-926C-8CA0CBEF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0F33-5450-4EB5-B9F0-9635D20E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D3E3-E2BD-442A-BBA5-C65ECE2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FD6A2-8590-4C1D-AD4D-46EEC7B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45A0F-E79D-454F-9755-66E48832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카메라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A3108-790B-405B-AE35-BDD99BA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웹캠으로 병실·복도 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E9929-923F-4295-A70D-FA07291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8E2E9-DD42-4F33-AC17-63F720EC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3185B-9BD0-43A4-9A3D-49492412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53102-F675-4CF5-9EF8-965E78D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엣지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480E5-C5BD-402F-8D6C-B7BB817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Jetson에서 자세·움직임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6021D-EF0A-469C-910E-E6AE2A3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2A18C-BA08-4D1D-A750-5166EFE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B3D5F-8C2B-4B0C-AA8C-5BEE1CA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16EDC-3A10-43CD-A3E5-7C47BD0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이벤트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8EA10-A28B-4B2B-9068-BE4F230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유형·위치·시각을 REST API로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0D724-DBF8-4C5D-98FD-4352EF9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8ADE9-584F-4E6E-B01B-0371423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4E82A-FDDD-4AA4-9E6A-5AD979D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23FB3-6AB1-4622-B598-F524267C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실시간 알림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0C533-8895-4573-9C5B-264719A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대시보드와 SMS로 담당자에게 전달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E8D1D-2806-4B91-AE3E-E13CFCF0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BD383-A47F-474B-8A4E-371D6CBC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5F070-E932-4909-91EB-639E4D29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AD2C8-4435-4463-96E7-DA15F91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조치기록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364D6-EFE2-4648-ACA2-F7B7A82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간호사가 조치 내용을 등록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EB149-21B5-4CE1-AAF0-44FC8CCE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35118-BF59-4603-B51C-670314D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낙상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15B10-1CC8-4280-A82A-B169215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 알림 + 해당 병동 활성 간호사 SMS + 병실 발생 시 담당 간병인 SMS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158C48-A184-44BE-8C4A-FEED2002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5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9523"/>
                </a:solidFill>
                <a:latin typeface="Malgun Gothic"/>
                <a:ea typeface="Malgun Gothic"/>
                <a:cs typeface="Malgun Gothic"/>
              </a:rPr>
              <a:t>낙상 의심·침대 이탈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24B7B9-81C6-4BDA-B7A2-79A83EB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72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 알림으로 현장 확인 지원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CFB40-D2A1-486E-85BB-D19F9D1A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82F129-BC6D-4530-BFF2-7C24A8C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580807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86BA03-5BDC-4B00-938A-9415C14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D760E-DB47-4D67-9103-FC8B15A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ER 다이어그램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1316-BAD5-4B3C-AAD5-779724F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3DEE-1988-4F84-9363-07F3792B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8C7FC-8491-44C0-9670-A2631C01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F4B2C-6866-46F6-96B4-90ED4CC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AE34A-AB1D-4037-A4B1-10EE3C03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TB_HOSPITAL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EB12D-0021-4979-A47E-2570A86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HOSP_NM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D286B-9C0B-40FB-AB26-1A7680C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CDBBE-8CA0-483D-9FD0-B0487C0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510B7-C2A6-4B61-946D-4ED40D5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C30B4-AA2D-4A73-B4F0-0A6BD0A6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478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 (FK)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C04E7-430C-4F7D-A0C5-9D88CEA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C1100-5019-4F3F-997F-24D8B42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7E1C6-2DF8-4A04-966F-6270931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735D7-EA31-4CF7-81DE-1BA93A5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5EF2B-4336-48B3-BC27-6476C67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AD27D-4BA2-4AB5-AED0-235A01B3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2FAA7-81DC-44B5-AB3F-EE15844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TB_CAMERA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6C835-803F-4981-9384-35A53FD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CAMERA_ID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EDGE_DEVICE_ID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01FA3-7B8F-4E26-9920-12D1D6B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64003-C955-4E64-BF4D-CF6A01FC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418CD-8729-41F2-9782-CD2C3D7C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TB_EDGE_DEVICE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2A6B0-155F-44DE-9AEB-9B49375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EDGE_DEVICE_ID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 (FK)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701C5-8D85-4FB3-8C8B-65764E4B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C1AA5-8DC2-4402-8F70-983ED6A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63049-8B9D-4893-AFD0-21BBA161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57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TB_DETECTION_EVENT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F8740-0B51-40F6-98C4-C9BE728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CAMERA_ID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EVENT_TYPE · DECISION_ST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8EF34E-9EB7-4D13-B18E-0FF4F2C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9C407-C813-4195-ADA3-982540CC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ECE8A-9C99-4DD1-97FC-E956FB4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030C84-5D74-4A28-882F-888F52A3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EMP_ID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ROLE_CD · AUTH_ST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0DF33-6772-4A64-9EE1-49D32A01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6E6F1-E1DA-464F-AD1E-81222AEE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5EE41E-E1D4-4268-9DF7-23B6458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TB_CAREGIVER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D0675F-52D2-407C-A39A-7A2F831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CAREGIVER_ID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USE_YN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FDF19-55FA-4AE1-ABE2-0DFE1BDC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E4D0B-B4B0-43A4-9B99-7DE548E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972CFC-F143-4B76-96E5-C94A9C63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TB_EVENT_ACTION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83C848-FFB7-42E7-984E-414FC1DE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ACTION_ID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 (FK, UK)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HANDLER_ID (FK)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671D95-37CD-4413-8569-62D16FE4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7B6BA-1A57-457C-B47B-087D5167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FB21B-B851-46CC-8CED-999B41DC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TB_SMS_SEND_HISTORY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39EBB-496B-454E-BFA6-32398C5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SMS_ID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SEND_STATUS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069DA0-5FDE-4297-9EF7-28EBB0C3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145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929C27-5443-42D9-AF9C-E37CAB54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145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0480D6-8342-4C3B-B7E4-BDAC2505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4B6062-11C1-4871-82A1-95CCDEA5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9A104C-3DA3-45DA-A3EB-CEB40A4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8B7210-F293-4D98-AB53-8FA386AA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22479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1CC923-FFA6-4266-A299-07E32254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43624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B54C10-1688-4B8C-BCAA-5B0814EA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주요 운영 테이블 간 관계를 단순화하여 표시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09FD92-17A9-4ABD-9977-3D47F635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928F6C-2A45-4152-8B2F-2C1A2E9F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7029850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E153-4F90-49A7-BE5A-A43EF36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C196-739C-43F9-A5AA-0F91A63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03  구현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86391-35B2-4943-9672-E1F400D8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AI·엣지·웹 관제의 통합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DA721-8BB9-43C7-AB37-0074493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78789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E1144-49C5-42A8-A80B-391FE8CE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FC145-45D5-4ABF-9BD0-6A3E8B5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사용 언어 및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6FEC9-0207-4340-AE78-3E57D54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2570-CD07-4D11-8237-02CA709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2f22f0a404368"/>
          <a:stretch xmlns:a="http://schemas.openxmlformats.org/drawingml/2006/main"/>
        </p:blipFill>
        <p:spPr>
          <a:xfrm xmlns:a="http://schemas.openxmlformats.org/drawingml/2006/main">
            <a:off x="666750" y="1815581"/>
            <a:ext cx="5905500" cy="3474487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ABC13-6E6A-480F-9E51-D3BB939B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38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AA209-63CB-476A-B331-A62F01A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Python · OpenCV · YOLO11n-Pose · ByteTrack · SVM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6A791-9CFE-4A52-B942-5257366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C780F-796E-4910-8F9A-F54EEEA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 Orin Nano · AOC AC310 USB Webcam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7DFCA-0BDB-49E9-A166-AB735793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C62D3-AFC9-4F06-AAE0-96ACEB3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Java · Spring Boot · HTML · CSS · JavaScript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C6FEB-01EA-4AE6-A7E3-EA558FEB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Data &amp;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DB193-A946-4CBA-B84A-D01C34B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01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PostgreSQL · MyBatis · REST API · WebSocket/STOMP · SOLAPI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02962-8F94-44A7-9F6F-280F4554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DF1D1-ACE1-44A7-893E-2F908E4E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688739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DA245-E04D-4D48-AC09-60FD77A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35A36-70DF-40E9-A99B-C9FE34C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개발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41670-39C8-4939-8D1D-F27B0A1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4B024-5D6E-40C7-B4B4-47DAC60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B49F4-14F9-436F-81D7-B9DF2E0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78882-AC13-453F-BB3E-2877022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D5A78-F6DB-4D0B-90B0-72D9C0B8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 감지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7F185-ED00-4700-BCFC-FD08441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YOLO11n-Pose와 ByteTrack으로 관절·이동을 추적하고 SVM으로 낙상·낙상 의심을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0BA66-BF65-4196-BBF2-BF3ECD0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90A3B-7741-45B3-A562-A9E66795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45522-D6B1-4B9B-A6D2-70FC08F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FF9C0-B78E-488F-8F30-E15E2AA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침대 관심영역(ROI), 골반 중심점, 경과 시간으로 이탈 상태를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E4B83-5A6B-4C5F-A4BF-1B2FB9F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20857-E04C-4EA3-A6D8-0661E22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1D197-A1C9-41EC-8A07-49C34FC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연동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866D6-158E-4675-85ED-A60C944D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Jetson이 JSON 이벤트를 전송하고 WebSocket/STOMP로 대시보드에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02019-88EF-4913-B8FD-8B607D4E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3FA98-1858-43B7-A326-8DB554A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94BFE-D268-4807-B924-EC09245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데이터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B81DE-BCDA-47BB-8816-4C2818F6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19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감지 이벤트, 조치기록, SMS 발송 결과, 인력 관리 이력을 PostgreSQL에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7589E-B722-4C17-A6A0-D206C6E7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B1684-FC2E-42B9-BBDB-3FFBFFC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엣지 장비 실측: 카메라 입력부터 판정까지 초당 7.6회 처리, 9명이 있는 장면에서도 같은 속도 유지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E4034-AD24-412E-BBE6-DA33462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022B9-C732-47EA-9E55-14F89B2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053365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95E46-66C2-4755-B9E9-DC00291C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56798-8DA0-4CD7-9347-2DBA5E19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1E0BE-8CC8-4621-BE92-D5A1F09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BC33F-55C1-476C-8F00-920CBC2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631fb0a7b4c30"/>
          <a:stretch xmlns:a="http://schemas.openxmlformats.org/drawingml/2006/main"/>
        </p:blipFill>
        <p:spPr>
          <a:xfrm xmlns:a="http://schemas.openxmlformats.org/drawingml/2006/main">
            <a:off x="1658938" y="1428750"/>
            <a:ext cx="8874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5746D-EF7E-4D68-899D-387B023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카메라 영상은 Jetson에서 분석하고, 서버에는 감지 이벤트 정보만 전송합니다.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E21DC-387B-40B7-8F66-24D0143B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5A11E-82F5-414A-A40D-5EB8FD1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130209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BAC1F-D3A8-42BE-B9D2-E964EAFE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C4F83-02F3-4549-BB82-01D1DB13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주요기능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DF822-7C7D-4D16-9F2A-5A876511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938EC-D2DC-4625-9A2E-E91596BC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bef0e3167496b"/>
          <a:stretch xmlns:a="http://schemas.openxmlformats.org/drawingml/2006/main"/>
        </p:blipFill>
        <p:spPr>
          <a:xfrm xmlns:a="http://schemas.openxmlformats.org/drawingml/2006/main">
            <a:off x="552450" y="1561374"/>
            <a:ext cx="4953000" cy="2592251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bcc802ce54089"/>
          <a:stretch xmlns:a="http://schemas.openxmlformats.org/drawingml/2006/main"/>
        </p:blipFill>
        <p:spPr>
          <a:xfrm xmlns:a="http://schemas.openxmlformats.org/drawingml/2006/main">
            <a:off x="5810250" y="1515955"/>
            <a:ext cx="4953000" cy="268309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f2ccc9fdb4e1a"/>
          <a:stretch xmlns:a="http://schemas.openxmlformats.org/drawingml/2006/main"/>
        </p:blipFill>
        <p:spPr>
          <a:xfrm xmlns:a="http://schemas.openxmlformats.org/drawingml/2006/main">
            <a:off x="4738839" y="4476750"/>
            <a:ext cx="2542871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B5469-83C3-40E5-9506-B593929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간호사 관제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6AF2E-40BA-489E-B361-4FB5D0F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안전 현황·평면도·알림·현장 대응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B6AB6-D0F3-4F5D-ADA7-AC11E3B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관리자 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0B8BF-DA01-4935-A356-F610A6A2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76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인력 현황·사고 현황·계정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4FAEE-B276-4D7D-A47B-F02FD88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8C610-4DCA-41E5-BAB3-5184963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71720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DCCB4-6CDE-42F6-8DFD-EC7CCF24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B78FD-3D64-4123-9A59-9ED08BF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시연 영상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195EB-C119-431F-86A3-8F6ABCB4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B9B52-3192-427F-AD42-6E3E28FA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2B18B-FDAF-4150-9764-B245EE7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8961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C02C3-4FB6-4441-B28E-D26E62E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9144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78CBE-C643-47B1-B95B-898C868B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영상 삽입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10BFC-3D3D-464A-9FA3-6489727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14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발표 시 실제 서비스 시연 영상으로 교체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9993B-D7E0-41B5-BA83-0103E4B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94ED6-4953-4DA1-AC38-A32D29B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A2884-59E4-4D84-AEBF-540089F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카메라 영상에서 위험 상황 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4763-47AF-4DC1-8CC3-618AC69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EBAE6-5572-4810-B8C3-38752072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간호사 대시보드에 발생 위치와 유형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05BE2-3B0B-4251-94AA-9AF1B8F4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013AA-6790-40D1-9C73-B4D40996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 발생 시 SMS 알림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74F3C-8675-4E0A-BE5D-2C237B9D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8850B-DFE4-436E-8D76-6FADB425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대응 등록 후 조치기록 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E8C13-AFFE-495F-A111-C38E87A5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※ 영상 파일이 제공되면 이 영역에 삽입할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4E0F6-C63F-4772-BE19-24C9F6AB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8245C-45E7-486B-87D3-F237A1E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7197989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2E358-41D7-4F3D-994B-C8E2A3D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574CB-4103-4131-B081-3DBDFC6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트러블 슈팅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A4E0A-88F1-4863-88E0-64A7ECCD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F29A-C19F-4DAB-B183-1E337E9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76BD2-5FD9-475A-8B69-84A6E88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AE4B-CE3A-4B1F-9083-6656C28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실제 카메라 환경의 미탐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4A0D-A131-40EB-9CBC-F46C776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초기 배포 모델은 팀 밖 참여자 영상에서 낙상을 확정 감지하지 못했습니다.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04C00-992E-4578-B08B-1B198490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8F77-8C2F-414A-95E5-39AB811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누운 자세 자료로 추가 학습한 YOLO11n-Pose와 시간 특징 SVM을 적용해 최종 후보에서 14회 중 9회를 확정 감지했습니다.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7DC2A-2318-4735-AA49-42A9817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F8F20-10EF-4DC5-9E6F-ACA792A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5214F-BAEC-4732-82BB-A0DCA7F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TensorRT 성능 기대와 다른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5A0AC-8D31-4058-8ADD-A7C476E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TensorRT 변환본이 PyTorch보다 처리 시간이 길었습니다.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A9E2D-E40C-4AF4-8D25-27AB7C97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A58E0-EF19-443C-A548-C390C42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실측 결과 PyTorch 32.6ms, TensorRT 40.5ms로 확인해 PyTorch 경로를 사용했습니다.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11930-CB09-4D22-B874-2ED89B8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5E8AA-8EE9-48AE-AB7A-34BFC9A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24B78-ABA6-428F-8403-71C0915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전체화면 UI 레이아웃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3A8C-3FD3-44A6-BD01-FE624A0F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평면도와 알림 영역의 너비가 화면 크기에 따라 겹칠 수 있었습니다.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82B08-D752-41A5-97CA-0796958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D7DC6-C791-4DD9-9896-2E60A9CD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평면도 영역과 알림 목록의 높이·스크롤을 분리해 화면 배치를 조정했습니다.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15602-1497-426A-A6E2-AE2223A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52551-D7DF-4F3F-8FF6-1D54289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F5039-7DAE-4403-9FEC-BBBFE030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614478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A3855-9E8D-4A33-B866-A4F5FFF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FUTURE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492CD-2EB1-4131-AE28-951A0115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 및 활용방안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42F2-1365-4606-9CDE-43836BAD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5DC53-F0CC-433A-A1A6-991A6F0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28281-633F-436B-A0AA-A3927C1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1691A-5F4A-403D-A899-4E35768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빠른 위험 상황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72D49-85E5-4980-B50E-9BF49DE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발생 위치와 감지 유형을 화면과 SMS로 전달해 현장 확인을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22470-B14B-4EF5-AEC8-FF82B68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4301A-AB67-4B96-A87C-E61B413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관찰 부담 보완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9FD49-D086-422C-9940-1C145A9B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여러 CCTV를 계속 확인하는 부담을 줄이고 우선 확인할 위치를 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5D4B9-2895-4CD9-83DB-D9EEBBE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CD3E9-5656-45CA-93A2-076D42A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사고 대응 이력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16D65-E165-4AEA-838E-BBB154E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감지 이벤트, 발송 결과, 조치 내용을 연결해 대응 경과를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B035F-DF41-4BDF-A350-EE085DD4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E4231-BAB3-491C-8597-862F8538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활용방안과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C0C24-F503-49A6-922F-1223518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안전관리 서비스로 활용한 뒤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노인요양시설과 재활병원으로 적용 범위를 확대합니다.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75D51-837D-4992-A81F-9425EB1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D1758-14B9-4B78-97A3-0C346D8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향후 병원 서비스 로봇과 연계해</a:t>
            </a:r>
          </a:p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발생 위치의 현장 확인을 지원할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3E35E-5673-47F1-AB17-0B688232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11501-6DF8-4A55-8911-E279C0A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3035941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70543-3A28-44B6-84FC-781AF1A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BDD12-FBE3-4D2D-9528-EB54337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팀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9302C-1D51-495C-A5FE-289094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000C0-5FB3-4703-926E-119A450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1c2b63e54171"/>
          <a:srcRect xmlns:a="http://schemas.openxmlformats.org/drawingml/2006/main" l="0" t="1412" r="0" b="1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85900"/>
            <a:ext cx="5619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256FD-B6DA-4099-956B-FAF6764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0700E-F649-4E20-B2E4-0D3C8632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임채현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8417C-402E-4117-8C24-FE8519BD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PM · Full-Stack · Data 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D050-DE48-4EC7-80EF-95D6AB7C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구예진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EC692-0851-4026-9BA6-CCA3BC72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Full-Stack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56278-3FD6-4130-AFD0-86F4194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구정경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98D69-9329-4754-8CB6-64D4DF4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Full-Stack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1132B-1B6D-4A3D-8DBC-4D63350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김태헌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EB984-79BC-4FA4-B0FA-CBC885A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서버 구현 · Front-end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B1E27-CCF3-4985-8CD0-2460D16B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박건희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EC530-1093-46AC-A128-71C1108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Data Modeling · Full-Stack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B4072-1E71-4EDC-B87E-26CF613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DE592-8F33-40F7-9A56-5FAFFC7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3789954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806A0-D59F-41F7-A30E-DB27A0A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D8A0D-2348-43C9-B4D7-2FBC6A9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감지부터 대응까지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안전을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A228E-E5A5-4B92-A1AF-03905EE1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9E47F-5AB5-4AD8-AD84-C31385B2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E3011-C9A6-43E3-9F16-E383EF60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</p:txBody>
      </p:sp>
    </p:spTree>
    <p:extLst>
      <p:ext uri="{BB962C8B-B14F-4D97-AF65-F5344CB8AC3E}">
        <p14:creationId xmlns:p14="http://schemas.microsoft.com/office/powerpoint/2010/main" val="520562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2026-09-27T06:11:02.6800000Z</dcterms:created>
  <dcterms:modified xsi:type="dcterms:W3CDTF">2026-09-27T06:11:02.6800000Z</dcterms:modified>
</coreProperties>
</file>