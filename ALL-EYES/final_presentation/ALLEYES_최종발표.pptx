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7837e90994b04" /><Relationship Type="http://schemas.openxmlformats.org/officeDocument/2006/relationships/extended-properties" Target="/docProps/app.xml" Id="R050918794ddc4304" /><Relationship Type="http://schemas.openxmlformats.org/officeDocument/2006/relationships/officeDocument" Target="/ppt/presentation.xml" Id="R19c96420520a4d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c5d32cc8c74c4a"/>
  </p:sldMasterIdLst>
  <p:notesMasterIdLst>
    <p:notesMasterId xmlns:r="http://schemas.openxmlformats.org/officeDocument/2006/relationships" r:id="R25430b51b9754c1a"/>
  </p:notesMasterIdLst>
  <p:sldIdLst>
    <p:sldId xmlns:r="http://schemas.openxmlformats.org/officeDocument/2006/relationships" id="256" r:id="Ra08022f3331d4aed"/>
    <p:sldId xmlns:r="http://schemas.openxmlformats.org/officeDocument/2006/relationships" id="257" r:id="R379a7425d78a4bad"/>
    <p:sldId xmlns:r="http://schemas.openxmlformats.org/officeDocument/2006/relationships" id="258" r:id="R65410197c09046bb"/>
    <p:sldId xmlns:r="http://schemas.openxmlformats.org/officeDocument/2006/relationships" id="259" r:id="R27d2a80d927c49ad"/>
    <p:sldId xmlns:r="http://schemas.openxmlformats.org/officeDocument/2006/relationships" id="260" r:id="R78cc2d5d59cc4e8b"/>
    <p:sldId xmlns:r="http://schemas.openxmlformats.org/officeDocument/2006/relationships" id="261" r:id="Rcec52f0ae60244c3"/>
    <p:sldId xmlns:r="http://schemas.openxmlformats.org/officeDocument/2006/relationships" id="262" r:id="Ra67f633191f2447a"/>
    <p:sldId xmlns:r="http://schemas.openxmlformats.org/officeDocument/2006/relationships" id="263" r:id="Rd1088d478f1e4258"/>
    <p:sldId xmlns:r="http://schemas.openxmlformats.org/officeDocument/2006/relationships" id="264" r:id="R2d3ded4e56fc4ce6"/>
    <p:sldId xmlns:r="http://schemas.openxmlformats.org/officeDocument/2006/relationships" id="265" r:id="Reaa7155b927046cc"/>
    <p:sldId xmlns:r="http://schemas.openxmlformats.org/officeDocument/2006/relationships" id="266" r:id="Rd55b905eb23a4bd1"/>
    <p:sldId xmlns:r="http://schemas.openxmlformats.org/officeDocument/2006/relationships" id="267" r:id="Ra9209b1bff0a4916"/>
    <p:sldId xmlns:r="http://schemas.openxmlformats.org/officeDocument/2006/relationships" id="268" r:id="R89d9528d6fd74c76"/>
    <p:sldId xmlns:r="http://schemas.openxmlformats.org/officeDocument/2006/relationships" id="269" r:id="Re3776a4faae447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81d7ecfc54157" /><Relationship Type="http://schemas.openxmlformats.org/officeDocument/2006/relationships/slideMaster" Target="/ppt/slideMasters/slideMaster1.xml" Id="R5ec5d32cc8c74c4a" /><Relationship Type="http://schemas.openxmlformats.org/officeDocument/2006/relationships/notesMaster" Target="/ppt/notesMasters/notesMaster1.xml" Id="R25430b51b9754c1a" /><Relationship Type="http://schemas.openxmlformats.org/officeDocument/2006/relationships/presProps" Target="/ppt/presProps.xml" Id="R6a8963b0e8ba4f1a" /><Relationship Type="http://schemas.openxmlformats.org/officeDocument/2006/relationships/tableStyles" Target="/ppt/tableStyles.xml" Id="Ra6fac08ed49c4436" /><Relationship Type="http://schemas.openxmlformats.org/officeDocument/2006/relationships/slide" Target="/ppt/slides/slide1.xml" Id="Ra08022f3331d4aed" /><Relationship Type="http://schemas.openxmlformats.org/officeDocument/2006/relationships/slide" Target="/ppt/slides/slide2.xml" Id="R379a7425d78a4bad" /><Relationship Type="http://schemas.openxmlformats.org/officeDocument/2006/relationships/slide" Target="/ppt/slides/slide3.xml" Id="R65410197c09046bb" /><Relationship Type="http://schemas.openxmlformats.org/officeDocument/2006/relationships/slide" Target="/ppt/slides/slide4.xml" Id="R27d2a80d927c49ad" /><Relationship Type="http://schemas.openxmlformats.org/officeDocument/2006/relationships/slide" Target="/ppt/slides/slide5.xml" Id="R78cc2d5d59cc4e8b" /><Relationship Type="http://schemas.openxmlformats.org/officeDocument/2006/relationships/slide" Target="/ppt/slides/slide6.xml" Id="Rcec52f0ae60244c3" /><Relationship Type="http://schemas.openxmlformats.org/officeDocument/2006/relationships/slide" Target="/ppt/slides/slide7.xml" Id="Ra67f633191f2447a" /><Relationship Type="http://schemas.openxmlformats.org/officeDocument/2006/relationships/slide" Target="/ppt/slides/slide8.xml" Id="Rd1088d478f1e4258" /><Relationship Type="http://schemas.openxmlformats.org/officeDocument/2006/relationships/slide" Target="/ppt/slides/slide9.xml" Id="R2d3ded4e56fc4ce6" /><Relationship Type="http://schemas.openxmlformats.org/officeDocument/2006/relationships/slide" Target="/ppt/slides/slide10.xml" Id="Reaa7155b927046cc" /><Relationship Type="http://schemas.openxmlformats.org/officeDocument/2006/relationships/slide" Target="/ppt/slides/slide11.xml" Id="Rd55b905eb23a4bd1" /><Relationship Type="http://schemas.openxmlformats.org/officeDocument/2006/relationships/slide" Target="/ppt/slides/slide12.xml" Id="Ra9209b1bff0a4916" /><Relationship Type="http://schemas.openxmlformats.org/officeDocument/2006/relationships/slide" Target="/ppt/slides/slide13.xml" Id="R89d9528d6fd74c76" /><Relationship Type="http://schemas.openxmlformats.org/officeDocument/2006/relationships/slide" Target="/ppt/slides/slide14.xml" Id="Re3776a4faae4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39ec46650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6b30df15f47df" /><Relationship Type="http://schemas.openxmlformats.org/officeDocument/2006/relationships/notesMaster" Target="/ppt/notesMasters/notesMaster1.xml" Id="Rbea1196b93d441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d914c407a74a53" /><Relationship Type="http://schemas.openxmlformats.org/officeDocument/2006/relationships/notesMaster" Target="/ppt/notesMasters/notesMaster1.xml" Id="R0c1be7761a92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20e315de84c45" /><Relationship Type="http://schemas.openxmlformats.org/officeDocument/2006/relationships/notesMaster" Target="/ppt/notesMasters/notesMaster1.xml" Id="R4cdf96eee92a41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43823a18d47de" /><Relationship Type="http://schemas.openxmlformats.org/officeDocument/2006/relationships/notesMaster" Target="/ppt/notesMasters/notesMaster1.xml" Id="R7af20fd930ac4e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80a566f924645" /><Relationship Type="http://schemas.openxmlformats.org/officeDocument/2006/relationships/notesMaster" Target="/ppt/notesMasters/notesMaster1.xml" Id="R96cbcfa5435641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b700c927a498d" /><Relationship Type="http://schemas.openxmlformats.org/officeDocument/2006/relationships/notesMaster" Target="/ppt/notesMasters/notesMaster1.xml" Id="R6d19397e87374b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e30ec9770645d7" /><Relationship Type="http://schemas.openxmlformats.org/officeDocument/2006/relationships/notesMaster" Target="/ppt/notesMasters/notesMaster1.xml" Id="R1ac5c4cbedfa4e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5c3af64fc2481e" /><Relationship Type="http://schemas.openxmlformats.org/officeDocument/2006/relationships/notesMaster" Target="/ppt/notesMasters/notesMaster1.xml" Id="Raa36c3ff6a3a4e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e4b8b7099744fb" /><Relationship Type="http://schemas.openxmlformats.org/officeDocument/2006/relationships/notesMaster" Target="/ppt/notesMasters/notesMaster1.xml" Id="R059d77c136cf44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de77dab88f404a" /><Relationship Type="http://schemas.openxmlformats.org/officeDocument/2006/relationships/notesMaster" Target="/ppt/notesMasters/notesMaster1.xml" Id="R2fe4015325e74a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22452b869241e2" /><Relationship Type="http://schemas.openxmlformats.org/officeDocument/2006/relationships/notesMaster" Target="/ppt/notesMasters/notesMaster1.xml" Id="Rcd4b6a26a55d47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b58b61e9ad44e8" /><Relationship Type="http://schemas.openxmlformats.org/officeDocument/2006/relationships/notesMaster" Target="/ppt/notesMasters/notesMaster1.xml" Id="Rdc3dc3382b6049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2a117fe9ea4512" /><Relationship Type="http://schemas.openxmlformats.org/officeDocument/2006/relationships/notesMaster" Target="/ppt/notesMasters/notesMaster1.xml" Id="R67ad3a99fa6a4a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0204085d5468a" /><Relationship Type="http://schemas.openxmlformats.org/officeDocument/2006/relationships/notesMaster" Target="/ppt/notesMasters/notesMaster1.xml" Id="R43de23f7af0e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발표집 표지_임채현.hwp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구성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고령자 낙상사고: 한국소비자원. 손상환자 통계: 질병관리청. 간병 인력: 라포르시안.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요구사항 정의서_임채현.hwp FR-AD-600, FR-AD-601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시스템 아키텍처.png, 프로젝트기획서_임채현.hwp, 요구사항 정의서_임채현.hwp NFR-DV-001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기술 스택.png,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팀 밖 참여자 2명의 모의 환경 영상 평가: 낙상 14회, 침대 이탈 6회. 전체 경로 처리 속도 실측 결과.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간호사 대시보드.png, 요구사항 정의서_임채현.hwp AIO_016, FR-AD-300~315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조치 기록.png, 요구사항 정의서_임채현.hwp FR-AD-312~315, FR-AD-400~412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관리자 대시보드.png, 요구사항 정의서_임채현.hwp AIO_006, FR-AD-200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요구사항 정의서_임채현.hwp FR-AD-201~212, FR-AD-500~508, FR-AD-600~601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요구사항 정의서_임채현.hwp NFR-TS-002, NFR-TS-008, NFR-SE-001, NFR-RL-001, NFR-DV-001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기대효과 및 활용방안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단체사진.jpg, 프로젝트기획서_임채현.hwp 참여 인원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1d8eed764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88378d9b2454e" /><Relationship Type="http://schemas.openxmlformats.org/officeDocument/2006/relationships/slideLayout" Target="/ppt/slideLayouts/slideLayout1.xml" Id="R832bafff4b93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bafff4b93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6f6e13ee448b2" /><Relationship Type="http://schemas.openxmlformats.org/officeDocument/2006/relationships/image" Target="/ppt/media/image.png" Id="R39434c553f814e9d" /><Relationship Type="http://schemas.openxmlformats.org/officeDocument/2006/relationships/notesSlide" Target="/ppt/notesSlides/notesSlide1.xml" Id="Rc2a1ea96494941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a55aa72c24ab3" /><Relationship Type="http://schemas.openxmlformats.org/officeDocument/2006/relationships/notesSlide" Target="/ppt/notesSlides/notesSlide2.xml" Id="R1f4c41390f02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a07d6eae24afb" /><Relationship Type="http://schemas.openxmlformats.org/officeDocument/2006/relationships/notesSlide" Target="/ppt/notesSlides/notesSlide3.xml" Id="R58839b5d532b47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a0384a1ca4f88" /><Relationship Type="http://schemas.openxmlformats.org/officeDocument/2006/relationships/notesSlide" Target="/ppt/notesSlides/notesSlide4.xml" Id="Ra91bda007b14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6a7281d824e3d" /><Relationship Type="http://schemas.openxmlformats.org/officeDocument/2006/relationships/image" Target="/ppt/media/image2.png" Id="Rb6e49ec3c2494ff8" /><Relationship Type="http://schemas.openxmlformats.org/officeDocument/2006/relationships/notesSlide" Target="/ppt/notesSlides/notesSlide5.xml" Id="R8bddeb842c334d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88c2a70a44df1" /><Relationship Type="http://schemas.openxmlformats.org/officeDocument/2006/relationships/image" Target="/ppt/media/image3.png" Id="R7a3ee1eff886414f" /><Relationship Type="http://schemas.openxmlformats.org/officeDocument/2006/relationships/notesSlide" Target="/ppt/notesSlides/notesSlide6.xml" Id="R9448e9e4e62343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0db15498b4279" /><Relationship Type="http://schemas.openxmlformats.org/officeDocument/2006/relationships/notesSlide" Target="/ppt/notesSlides/notesSlide7.xml" Id="Rbc8e104f77dc48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6026599404ab2" /><Relationship Type="http://schemas.openxmlformats.org/officeDocument/2006/relationships/image" Target="/ppt/media/image4.png" Id="R445cec6b80704570" /><Relationship Type="http://schemas.openxmlformats.org/officeDocument/2006/relationships/notesSlide" Target="/ppt/notesSlides/notesSlide8.xml" Id="Ra4824fe1cf4543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6c55e64664ac3" /><Relationship Type="http://schemas.openxmlformats.org/officeDocument/2006/relationships/image" Target="/ppt/media/image5.png" Id="Rb69c069ed7ad4499" /><Relationship Type="http://schemas.openxmlformats.org/officeDocument/2006/relationships/notesSlide" Target="/ppt/notesSlides/notesSlide9.xml" Id="R4701b4dd041645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14fabe0f443f5" /><Relationship Type="http://schemas.openxmlformats.org/officeDocument/2006/relationships/image" Target="/ppt/media/image6.png" Id="Rc8c7b1761e8447f3" /><Relationship Type="http://schemas.openxmlformats.org/officeDocument/2006/relationships/notesSlide" Target="/ppt/notesSlides/notesSlide10.xml" Id="R5a62189f931343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0aea728dd4f4e" /><Relationship Type="http://schemas.openxmlformats.org/officeDocument/2006/relationships/notesSlide" Target="/ppt/notesSlides/notesSlide11.xml" Id="R91e634116b904b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c7795eee47d8" /><Relationship Type="http://schemas.openxmlformats.org/officeDocument/2006/relationships/notesSlide" Target="/ppt/notesSlides/notesSlide12.xml" Id="R9e9e2a8e7e4f44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e488b6ba456f" /><Relationship Type="http://schemas.openxmlformats.org/officeDocument/2006/relationships/notesSlide" Target="/ppt/notesSlides/notesSlide13.xml" Id="R76800e57763747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b5ae7a6b94552" /><Relationship Type="http://schemas.openxmlformats.org/officeDocument/2006/relationships/image" Target="/ppt/media/image.jpeg" Id="R7650a88051bf4bee" /><Relationship Type="http://schemas.openxmlformats.org/officeDocument/2006/relationships/notesSlide" Target="/ppt/notesSlides/notesSlide14.xml" Id="Re9a072611b534b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34c553f814e9d"/>
          <a:srcRect xmlns:a="http://schemas.openxmlformats.org/drawingml/2006/main" l="7760" t="0" r="77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8F4A6-D20F-46BF-99E9-A34112F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2CD3-43FD-4F77-AD69-7B21B6E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" cy="2343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71AE-9C59-45A0-BDBA-C57C67C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9A4B5-8DE6-40E1-903E-3255C99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시각지능 기반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위험상황 감지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6396E-D5EF-4923-BFB5-9397A59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낙상 감지부터 현장 대응 기록까지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6FEF-9415-40C7-9FCF-3C559CF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  |  2026. 10. 02.</a:t>
            </a:r>
          </a:p>
        </p:txBody>
      </p:sp>
    </p:spTree>
    <p:extLst>
      <p:ext uri="{BB962C8B-B14F-4D97-AF65-F5344CB8AC3E}">
        <p14:creationId xmlns:p14="http://schemas.microsoft.com/office/powerpoint/2010/main" val="538951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0C18E-351D-4B6C-98B3-E0DC207B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4D125-D922-4C2E-9E83-27B9BD80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발표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F0906-DD5A-4DA9-BC44-80C91B0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834E8-140D-4043-AF25-5AA5CE1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40EFA-F3A0-4589-95E5-4CCDD04C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D4EBD-4539-40BC-9F27-5749F285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문제와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38A2-62CD-4C0C-B1C5-4B1F95AB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47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요양병원 안전관리의 필요성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88B51-971E-4961-976B-F57A094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E9A6A-F5FB-4F4F-B733-A854A46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70067-D6A2-40F9-BFFE-9668CBEC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서비스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3F85-DF6E-4B07-9C45-1FABBBD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66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감지·알림·기록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372A4-B3A6-422E-B07C-FA7511E4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074A8-794A-4D01-AE0D-E9470AD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BE78E-6C83-4843-9938-18BEE82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핵심 기술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D6265-886B-4555-97D8-72ED894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AI 모델과 엣지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7C262-B692-4C28-89FC-DDCC9896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B7FD9-A0DC-45F1-936F-4979B13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674BE-9D2B-41F9-AE46-1475527B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57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구현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35597-796E-4962-A82D-BC75FC98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간호사·관리자 관제 기능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6EABE-1808-4AD9-8559-7A2B95B5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76543-846D-449C-8DE5-8F2705C3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AC90F-3D74-4882-812A-AE34377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검증과 확장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1CCA2-6183-4D0B-AC39-18BD041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성능 결과 및 활용 방향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0325D-4A38-4178-94F7-F1A42983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6E452-C4C4-4F79-89F0-29A8CAB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시각지능 기반 요양병원 위험상황 감지 서비스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A8583-9ECF-49DC-ABA1-0059E36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CE967-962A-443C-BD1C-C2B8C18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1262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C2540-F300-40BF-9D02-608BBA1D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PROBLEM &amp;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B4A6B-1452-49D6-95CD-F7A59AC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요양병원 안전관리의 공백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5CF82-F40A-4E23-97A8-656686C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8E36A-C7AB-4D47-999E-D127C06D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80D1A-DDCA-4AB2-B821-3129319F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고령 환자 안전사고와</a:t>
            </a:r>
          </a:p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제한된 현장 관찰 인력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DC49-BFEA-43E8-B3DB-9E9D841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여러 병실을 지속적으로 확인해야 하는 환경에서 위험 상황을 놓치지 않고, 담당자에게 빠르게 전달하는 체계가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A922-E3B7-4F1A-B6E7-40B65BC7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2D24C-BAAD-425F-BBD7-4A235AC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3.2배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D630F-94B4-4D50-9D0D-D3C26DB6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65세 이상 낙상사고 증가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2020년 3,721건 → 2024년 11,866건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B69AF-BD42-49BF-AA1E-04A710C3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973BE-844A-4ED1-A6D5-70BD7D62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52.9%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394B8-7C26-4F10-A9E6-D70B0737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2025년 응급실 입원 손상환자 중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60세 이상 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3765C-17BE-4A38-841B-90117A46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1581150" cy="22479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37658-EA00-4A66-8B51-AFBD41C5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7167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14만 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D60C1-5B29-46E7-8B08-5B4B665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0325"/>
            <a:ext cx="127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요양병원 필요 간병 인력 추산</a:t>
            </a:r>
          </a:p>
          <a:p xmlns:a="http://schemas.openxmlformats.org/drawingml/2006/main">
            <a:pPr algn="ctr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실제 활동 인력은 약 3.8만 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D7405-FCF5-448A-B4C7-6DF4FAF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325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679B3-ADE7-478B-967E-6AF5B9D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B8748-095A-4E6E-BD5D-F06A74C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672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웹캠과 Jetson Orin Nano로 낙상·낙상 의심·침대 이탈을 감지하고,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알림과 SMS, 조치기록을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BD1F6-A924-476A-AB68-B17E91F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ADD2F-0E7E-4BD5-809D-D51C8679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058974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6A204-1452-4B86-87F8-F6860851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SERVICE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BB21A-84B8-48DC-9840-FA0EC53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감지부터 현장 대응까지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AB177-CD87-46FC-936E-0777506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2F83F-84F1-4AF5-BFA7-DC60FA0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8185D-7984-4AF5-B11D-3B76CC3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9C7AC-9A0F-48A6-8128-1DAA69D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FAC0B-1916-4AB2-9885-0511E55B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영상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42057-50EC-4F7B-A842-FDA3310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웹캠 영상에서 자세와 움직임을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AA22C-9C31-44ED-A4AF-E718E272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CC277-406C-4266-9BE2-0B8FC60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FB8A1-18A0-49F1-9F9A-9CD4B87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16B78-ACD3-4121-B357-AE83579C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EA587-97BC-44F4-8EB3-11E8399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낙상·낙상 의심·침대 이탈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EEED1-16A5-48F5-857D-C816B3AC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A1CAB-3D40-4102-B30C-4A80ED45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A5D93-7890-483A-AA01-4CC5B4D2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AEA75-6039-49AC-BFA0-39D64DB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8F4D6-6369-4B88-9DA5-DC692D1F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이벤트 정보만 서버와 대시보드로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4BBE2-3F83-48F6-A0D6-A7D16C1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DD8F0-1046-4BC6-8A5E-BC44E044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A148C-4E48-4A03-A3C4-9527D0C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C09FA-BD51-4C99-8A31-2A54619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6A7EE-9F8A-4C52-B653-EA87174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 SMS 발송 및 조치기록 등록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A2C09-C88A-43C2-BDC7-7C99942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5D7FB-E79E-4554-8E72-2DF6DC3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 알림 정책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B8805-997F-4285-817E-047BBE61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낙상 감지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260BB-399A-49CF-9084-7349592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958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간호사 대시보드 + 해당 병동 간호사 SMS + 병실 발생 시 담당 간병인 SMS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775C2-D205-48B2-812B-E6C7856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9522"/>
                </a:solidFill>
                <a:latin typeface="Malgun Gothic"/>
                <a:ea typeface="Malgun Gothic"/>
                <a:cs typeface="Malgun Gothic"/>
              </a:rPr>
              <a:t>낙상 의심·침대 이탈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FA756-3562-4E71-95FE-D975045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간호사 대시보드에 표시하여 현장 확인을 지원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E7FB3-FEF3-46D8-AD65-C68C8BE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6ADBF-0F37-4225-BDEF-90D26B6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78773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B85FA-5D9C-4CB3-BA6A-4DD8E285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FEA08-C86F-445F-ABD6-B41BCBD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8A424-0557-4F97-8126-E0C36AE4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078AF-E15A-4086-9318-309DBAD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49ec3c2494ff8"/>
          <a:stretch xmlns:a="http://schemas.openxmlformats.org/drawingml/2006/main"/>
        </p:blipFill>
        <p:spPr>
          <a:xfrm xmlns:a="http://schemas.openxmlformats.org/drawingml/2006/main">
            <a:off x="1658938" y="1485900"/>
            <a:ext cx="887412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EA848-D1DE-454F-A917-1DEE8390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원본 영상은 Jetson에서 실시간 분석하며, 서버에는 감지 유형·발생 위치·발생 시각 같은 이벤트 정보만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1B0E1-8EAC-41BC-AC3B-E81701D7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2A5F2-D9A9-4406-A1C5-05FE208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524752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BF745-C2A4-415E-8ABB-7963D0A4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920F-280D-4743-8D7A-A2D06319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기술 스택과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E16C0-D404-4F5E-BF4F-2CB3138D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8B519-3397-419A-9D32-A150BDC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ee1eff886414f"/>
          <a:stretch xmlns:a="http://schemas.openxmlformats.org/drawingml/2006/main"/>
        </p:blipFill>
        <p:spPr>
          <a:xfrm xmlns:a="http://schemas.openxmlformats.org/drawingml/2006/main">
            <a:off x="685800" y="1822009"/>
            <a:ext cx="6191250" cy="36426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9369-4330-4480-A034-2EE86F57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36920-03BD-4295-B99A-228F48E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YOLO11n-Pose·ByteTrack으로 관절과 움직임을 추적하고 SVM으로 위험 상황을 판정합니다.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2E3E5-4B8A-47F8-B285-1B407D78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5D237-4B8A-4EF0-A67B-6FB5B56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Jetson Orin Nano가 영상 분석을 수행합니다. 웹캠 영상은 상시 서버로 전송하지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A0C11-B87B-44FF-82D2-376A78C4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Web &amp;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51C5C-EB2A-4557-A057-361CACC4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Spring Boot·PostgreSQL·WebSocket/STOMP로 이벤트, 알림, 조치기록을 연결합니다.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E0FD7-038F-4DC5-92FD-738939F8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11E9A-004C-4F29-B176-79DF39A4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0855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555C6-2804-4BEA-9E41-E5DA48D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DETECTION &amp;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9C8D5-B590-4091-8FF7-591B42E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 감지 방식과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FABE0-FCD3-436A-9B87-93C05153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3BC24-7E34-4052-9CAC-F3467ED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5436B-DAD4-4589-8B04-3221E3F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낙상·낙상 의심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7203-AEDF-441A-A1A4-F981A11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17개 관절 기반의 0.5초 구간 특징 100개를 SVM(RBF)으로 판정합니다.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구간 점수가 연속 2회 기준을 넘으면 낙상으로 확정합니다.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B3D26-FFAA-4A7B-8002-8EA3E68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676BB-932B-4436-847B-9B76685D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관심영역(ROI)과 골반 중심점 위치, 경과 시간을 이용해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확정 이탈·이탈 의심·무경보 상태를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719B8-40FB-4C7D-8EE2-21F82FD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04950"/>
            <a:ext cx="5162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EE76-B1E9-4826-950F-6B12E73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모의 환경 최종 후보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0B3FC-18C9-4062-80F6-98AB383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9 /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73EF5-CF7C-4040-B6C6-B13996B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 확정 감지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A8A74-A885-496C-BD8D-CF309389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3건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F1BAC-BDD2-46CF-89CA-22A1A1E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정상 동작 오경보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A0887-4A7B-4AE4-9D4F-3C01822D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4 /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672F0-C069-4AF1-B623-929C743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이탈 확정 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DFAFA-C999-4526-B716-B037982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AE926-5BD1-423A-8553-8908624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침대 이탈 확정 오경보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D975D-7D8B-4881-91A0-C00FCB1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516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805EF-244A-492D-889F-9CF5AB2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815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초당 7.6회 처리, 9명이 있는 장면에서도 같은 속도 유지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DB531-4870-448A-90A2-3777B76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B62CA-5077-4C71-BA86-CD822488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04696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B0440-B0C9-48F4-BE6D-30AD3735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NURSE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6B1B6-65F5-4C46-8686-66D2A534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간호사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DBEBA-E8B6-4BD4-8BD3-070CBF4E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5957C-D679-4C29-9577-B17BF09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ec6b80704570"/>
          <a:stretch xmlns:a="http://schemas.openxmlformats.org/drawingml/2006/main"/>
        </p:blipFill>
        <p:spPr>
          <a:xfrm xmlns:a="http://schemas.openxmlformats.org/drawingml/2006/main">
            <a:off x="552450" y="1718174"/>
            <a:ext cx="7429500" cy="38883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A8EB7-945A-4B25-83C5-A1282841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병동 상황을 한 화면에서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0049A-A652-451E-BB8E-4FDCE03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안전 현황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16C06-1698-45E4-9FA0-C73CE14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전체·낙상·낙상 의심·침대 이탈·정상 상태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3CBAC-9798-4A2E-A2B5-B04C686F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평면도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75CC8-8121-42E9-8DCB-49C8178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병실과 복도의 발생 위치를 상태 색상으로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76184-E74A-4D47-8C0F-B7F042F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알림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62FE7-5ED0-4108-916E-2DF8206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낙상은 대응 등록, 낙상 의심은 확인·대응 등록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982D9-C365-4879-9A22-86C8EB0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오늘의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6248E-1C03-42D7-9C17-495F08F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선택 위치의 감지 건수와 최근 기록 제공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2DF6C-E873-47EC-BBA6-A07A082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16600-005D-4B1C-8831-6C65F255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546191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68F7F-E501-4011-90C3-E1B04E6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RESPONSE &amp;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FB85A-2F5D-4767-A686-82C3F504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대응 등록과 조치기록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748DC-65F5-49C6-9642-C50A400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43504-E152-4A2E-85E1-E554743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c069ed7ad4499"/>
          <a:stretch xmlns:a="http://schemas.openxmlformats.org/drawingml/2006/main"/>
        </p:blipFill>
        <p:spPr>
          <a:xfrm xmlns:a="http://schemas.openxmlformats.org/drawingml/2006/main">
            <a:off x="552450" y="1581067"/>
            <a:ext cx="7239000" cy="40673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ABBB-CA27-4B83-8D84-4D14F2D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 감지 이력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C104A-8FB2-4B1D-A9B7-254553F9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간호사는 환자명과 조치 내용을 등록합니다.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등록한 이벤트는 완료 상태로 변경하고,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미처리 알림 목록에서 제거합니다.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FBCD5-25D6-4A56-B780-F3091FF5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31DEC-05F7-46E7-8022-37976F9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조회와 내보내기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72F86-0840-4F12-B96C-AF107BF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기간·위치·처리 상태·이름으로 검색하고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선택 기록을 Excel, CSV, PDF로 제공합니다.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428E8-B990-4DB1-9FC4-AC61070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5FBD1-3931-4C4B-92D9-12D8AF90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7944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F7F9E-9B50-48B1-8F5F-2AB454A5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ADMIN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D04F6-1399-436E-A4CF-FE517574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관리자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DA72F-4B47-4926-BD45-D85E9C1E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5CBDE-43B7-4790-85C2-AC1EC01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7b1761e8447f3"/>
          <a:stretch xmlns:a="http://schemas.openxmlformats.org/drawingml/2006/main"/>
        </p:blipFill>
        <p:spPr>
          <a:xfrm xmlns:a="http://schemas.openxmlformats.org/drawingml/2006/main">
            <a:off x="552450" y="1624246"/>
            <a:ext cx="7524750" cy="407623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B3C06-4783-479E-A7EB-5F4B858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운영 현황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0D6E4-1FA9-4E4F-B952-B86E58C9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활성 간호사·간병인 수, 최근 조치기록,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실시간 낙상 알림을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8BE15-5F3E-40AD-A87E-8D7AB60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사고 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25B9F-96F4-4061-9DF6-78D27E25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병동별·시간대별 낙상 발생 현황을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그래프로 제공해 운영 상황을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DFE83-38E9-482D-B389-4D2CC38F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38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 메뉴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195BA-3EA6-49C1-BFDA-F246C10D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95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간호사·간병인 관리, 비활성화 관리,</a:t>
            </a:r>
          </a:p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관리 이력, 조치기록으로 이동합니다.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30E00-58D7-45DA-BC29-177DECA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A5933-FF03-4938-8BC9-BAED597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669617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3BD40-332E-4F10-84A1-119A2BBF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MANAGEMENT &amp; 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D547-58D6-48D1-B1FE-40EBEA8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인력 정보와 SMS 발송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98F9-EA40-413E-A757-13430A5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5082A-F027-4471-8F9C-45878B2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698C-298C-46FF-A6C2-7EC6C46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관리자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2829-7F54-4D6F-9F68-C069DA37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7164A-AD39-4769-8CC1-92AEF5CD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간호사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DDD6B-3033-42D6-831C-BA5E5E9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계정 생성, 배정 병동·전화번호 수정, 비밀번호 초기화, 비활성화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3E746-9B75-4FF8-B552-E8E42ED2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5688-28D0-45FE-A131-B74B6AF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간병인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86693-A6A7-408E-A054-F3A326A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담당 병동·병실·전화번호 등록 및 수정, 비활성화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620C4-AA75-481F-A1D2-5163FB3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D0376-DBB8-4E7E-B07F-B2BFAAD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관리 이력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6B53A-7AC4-481E-9879-60E76862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변경·비활성화·재활성화·삭제 결과를 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02C8-BBB9-4386-A8D7-44706A86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47053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E220A-4C63-4004-8522-BB7BD83F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낙상 감지 시 SMS 발송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0BDA1-E593-4586-A890-352FC21B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B427C-AB41-4C95-B641-0AEA9A0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 병동의 활성 간호사에게 1회 발송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04850-0BDB-44DB-9F6A-5AD5F464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13E43-36C4-4389-9627-E1DA187D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A426E-9D8A-4EAD-A65D-D7B85AD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432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병실 발생 시 담당 간병인에게도 1회 발송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DCB98-1A01-477E-A65D-7E65A97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8D921-10D6-41D8-86A4-9F2F9A9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321A0-A27C-41E1-80F4-B64734E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052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낙상 의심·침대 이탈은 대시보드에만 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71236-F257-4325-A8A6-F0CBA298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동일 이벤트는 중복 발송하지 않으며, 발송 결과와 실패 사유를 기록합니다.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F8FD0-CAE8-4A30-AF4D-8BF668E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40932-0BA3-4B63-9FF7-2FD8C12F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326658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9994E-D750-4C7C-B8DA-0E80189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PRIVACY &amp;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44522-81C2-4820-98A3-D97F77AA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개인정보 보호와 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1A1F-AE75-4749-8241-41561A5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7C54A-4D9C-469D-BC4F-7BE0B7E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3AC6F-F165-45DD-A1F8-54053FD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3199-41BF-4BE1-AD2B-45F31371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6A7CC-E0E8-461E-B0A8-C4E3AA8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BB77B-E231-4E8B-B547-56FC7A0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영상 정보 보호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17384-AEDA-4C57-A770-7F128A4C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원본 영상은 Jetson에서 실시간 분석합니다. 서버에는 감지 유형, 발생 위치, 발생 시각 등 이벤트 정보만 전송합니다.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C81B-368B-4052-A6A4-3F278AB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E5840-79B1-42EA-8C50-F073A35A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777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02780-B19D-4562-AFB4-2F6022AA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B354D-1A9E-4211-84C1-3D064BA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전화번호 보호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8BEA8-1040-4358-B1BE-301171C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간병인 전화번호는 권한이 있는 관리자와 시스템만 처리하며 목록에서는 마스킹하여 표시합니다.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46EDD-B341-4576-B038-75727E0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DE1B0-AB2A-42D1-8F4D-9589A1EE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67B6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B1894-741C-4DEB-9C73-9F63938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B6316-3AB4-45C0-AA69-8A6B000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알림 독립성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A8AB6-928F-44B9-8858-295FB05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SMS 발송이 실패해도 대시보드 알림과 음성 안내는 지연하거나 중단하지 않습니다.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93B38-DE31-418C-8293-7C0EBD6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91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C75C7-2810-44AC-B170-8D2AC484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9A523-3885-477C-BBE8-AA82BEF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62575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B3A"/>
                </a:solidFill>
                <a:latin typeface="Malgun Gothic"/>
                <a:ea typeface="Malgun Gothic"/>
                <a:cs typeface="Malgun Gothic"/>
              </a:rPr>
              <a:t>감지 정보 수신 후 1초 이내 화면 반영, 낙상 이벤트 수신 후 3초 이내 SMS 발송 요청을 목표로 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5D5D2-4CEE-4B0C-A35D-E0EEC019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D0F2C-21E3-4AAA-8D65-36311CC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688023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64892-8895-4AF2-BE30-2834BC07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7778F"/>
                </a:solidFill>
                <a:latin typeface="Malgun Gothic"/>
                <a:ea typeface="Malgun Gothic"/>
                <a:cs typeface="Malgun Gothic"/>
              </a:rPr>
              <a:t>IMPACT &amp;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5E2AE-8F71-45B5-AFA0-D7324AF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기대효과와 확장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AF3A5-5EA2-4D46-B3EF-13DAEA5C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0787-4EFB-492C-AC61-1760CB01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891FC-9A87-48C4-8BBD-11958B0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BF1A6-73CE-4A77-ACA7-19AD71E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7A833-C82D-409A-9972-5D42EE0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상황 확인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88C47-620E-4C44-9705-93BCEA3A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병실과 복도의 발생 위치, 유형을 바로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6685D-7C1F-41E7-943D-439472D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EA6BC-9DAD-49E8-B094-26882BA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 흐름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C6C37-1493-421F-AF85-74B2C4A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SMS 알림과 조치기록을 연결해 대응 경과를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77AE5-9D12-4481-97C9-2A2E42F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95D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BDF67-A6C1-4468-AED9-C09D5A7D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관찰 부담 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E627D-CA66-44CB-B38A-86C3485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여러 CCTV 화면을 지속적으로 확인하는 부담을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59D90-36AE-429E-9E88-3CFDBDCD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8768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08D63-BFBA-48F5-9FDA-F4744EA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확장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298AD-53B0-40B4-B164-E572FEA0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77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요양병원에서 시작해 요양원과 재활병원 등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고령자·거동 불편 환자가 많은 시설로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적용 범위를 넓힐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9E60D-A561-4EC8-9BF9-F8C9621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377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88E0A-1CC1-4D00-8B28-FFFD617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향후 병원 서비스 로봇과 연계하여</a:t>
            </a:r>
          </a:p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발생 위치의 현장 확인을 지원할 수 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4B2AD-25B0-485E-B41B-D2899F2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1E57B-21DB-49CB-B2D8-1E79A57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C7181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650135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0a88051bf4bee"/>
          <a:srcRect xmlns:a="http://schemas.openxmlformats.org/drawingml/2006/main" l="19375" t="0" r="19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0"/>
            <a:ext cx="56007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9B1B2-6416-42FE-8AF6-FCE6FB93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DE28F-FB44-4199-A4D2-ACEEEA26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D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81AC-3813-49D2-9374-220D2611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감지부터 대응까지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안전을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CC790-D8E6-4E5F-A953-E64E614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E29A-C86A-479D-8947-3F2CE54B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임채현 · 구예진 · 구정경 · 김태헌 · 박건희</a:t>
            </a:r>
          </a:p>
        </p:txBody>
      </p:sp>
    </p:spTree>
    <p:extLst>
      <p:ext uri="{BB962C8B-B14F-4D97-AF65-F5344CB8AC3E}">
        <p14:creationId xmlns:p14="http://schemas.microsoft.com/office/powerpoint/2010/main" val="1455835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2026-09-27T05:35:20.3690000Z</dcterms:created>
  <dcterms:modified xsi:type="dcterms:W3CDTF">2026-09-27T05:35:20.3690000Z</dcterms:modified>
</coreProperties>
</file>