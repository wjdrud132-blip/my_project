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dbb5f5594a46d3" /><Relationship Type="http://schemas.openxmlformats.org/officeDocument/2006/relationships/extended-properties" Target="/docProps/app.xml" Id="R544cebefc72147c4" /><Relationship Type="http://schemas.openxmlformats.org/officeDocument/2006/relationships/officeDocument" Target="/ppt/presentation.xml" Id="R4957fc31310a4f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71af25a244920"/>
  </p:sldMasterIdLst>
  <p:notesMasterIdLst>
    <p:notesMasterId xmlns:r="http://schemas.openxmlformats.org/officeDocument/2006/relationships" r:id="R942ca1959dea420f"/>
  </p:notesMasterIdLst>
  <p:sldIdLst>
    <p:sldId xmlns:r="http://schemas.openxmlformats.org/officeDocument/2006/relationships" id="256" r:id="R4f7020ffa0f94002"/>
    <p:sldId xmlns:r="http://schemas.openxmlformats.org/officeDocument/2006/relationships" id="257" r:id="R099232fa6efc4943"/>
    <p:sldId xmlns:r="http://schemas.openxmlformats.org/officeDocument/2006/relationships" id="258" r:id="Rb86ebc1c338d4f6d"/>
    <p:sldId xmlns:r="http://schemas.openxmlformats.org/officeDocument/2006/relationships" id="259" r:id="Ra44a3c4ce12a492d"/>
    <p:sldId xmlns:r="http://schemas.openxmlformats.org/officeDocument/2006/relationships" id="260" r:id="Rfa029a6dda5b42ac"/>
    <p:sldId xmlns:r="http://schemas.openxmlformats.org/officeDocument/2006/relationships" id="261" r:id="Rc61d9a6ef2114c1f"/>
    <p:sldId xmlns:r="http://schemas.openxmlformats.org/officeDocument/2006/relationships" id="262" r:id="Rad51227a4f3540c7"/>
    <p:sldId xmlns:r="http://schemas.openxmlformats.org/officeDocument/2006/relationships" id="263" r:id="R96fb84668a854cbc"/>
    <p:sldId xmlns:r="http://schemas.openxmlformats.org/officeDocument/2006/relationships" id="264" r:id="R3f33c390deba4b99"/>
    <p:sldId xmlns:r="http://schemas.openxmlformats.org/officeDocument/2006/relationships" id="265" r:id="R28304c12f9164559"/>
    <p:sldId xmlns:r="http://schemas.openxmlformats.org/officeDocument/2006/relationships" id="266" r:id="Rba0a0a8225ad4269"/>
    <p:sldId xmlns:r="http://schemas.openxmlformats.org/officeDocument/2006/relationships" id="267" r:id="R291abf837c974e91"/>
    <p:sldId xmlns:r="http://schemas.openxmlformats.org/officeDocument/2006/relationships" id="268" r:id="R12a417010536420d"/>
    <p:sldId xmlns:r="http://schemas.openxmlformats.org/officeDocument/2006/relationships" id="269" r:id="R4f09b488d7ae4c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4003ba43948a2" /><Relationship Type="http://schemas.openxmlformats.org/officeDocument/2006/relationships/slideMaster" Target="/ppt/slideMasters/slideMaster1.xml" Id="Rdce71af25a244920" /><Relationship Type="http://schemas.openxmlformats.org/officeDocument/2006/relationships/notesMaster" Target="/ppt/notesMasters/notesMaster1.xml" Id="R942ca1959dea420f" /><Relationship Type="http://schemas.openxmlformats.org/officeDocument/2006/relationships/presProps" Target="/ppt/presProps.xml" Id="R9d3c4d009c83476e" /><Relationship Type="http://schemas.openxmlformats.org/officeDocument/2006/relationships/tableStyles" Target="/ppt/tableStyles.xml" Id="R124b8a841e7c4818" /><Relationship Type="http://schemas.openxmlformats.org/officeDocument/2006/relationships/slide" Target="/ppt/slides/slide1.xml" Id="R4f7020ffa0f94002" /><Relationship Type="http://schemas.openxmlformats.org/officeDocument/2006/relationships/slide" Target="/ppt/slides/slide2.xml" Id="R099232fa6efc4943" /><Relationship Type="http://schemas.openxmlformats.org/officeDocument/2006/relationships/slide" Target="/ppt/slides/slide3.xml" Id="Rb86ebc1c338d4f6d" /><Relationship Type="http://schemas.openxmlformats.org/officeDocument/2006/relationships/slide" Target="/ppt/slides/slide4.xml" Id="Ra44a3c4ce12a492d" /><Relationship Type="http://schemas.openxmlformats.org/officeDocument/2006/relationships/slide" Target="/ppt/slides/slide5.xml" Id="Rfa029a6dda5b42ac" /><Relationship Type="http://schemas.openxmlformats.org/officeDocument/2006/relationships/slide" Target="/ppt/slides/slide6.xml" Id="Rc61d9a6ef2114c1f" /><Relationship Type="http://schemas.openxmlformats.org/officeDocument/2006/relationships/slide" Target="/ppt/slides/slide7.xml" Id="Rad51227a4f3540c7" /><Relationship Type="http://schemas.openxmlformats.org/officeDocument/2006/relationships/slide" Target="/ppt/slides/slide8.xml" Id="R96fb84668a854cbc" /><Relationship Type="http://schemas.openxmlformats.org/officeDocument/2006/relationships/slide" Target="/ppt/slides/slide9.xml" Id="R3f33c390deba4b99" /><Relationship Type="http://schemas.openxmlformats.org/officeDocument/2006/relationships/slide" Target="/ppt/slides/slide10.xml" Id="R28304c12f9164559" /><Relationship Type="http://schemas.openxmlformats.org/officeDocument/2006/relationships/slide" Target="/ppt/slides/slide11.xml" Id="Rba0a0a8225ad4269" /><Relationship Type="http://schemas.openxmlformats.org/officeDocument/2006/relationships/slide" Target="/ppt/slides/slide12.xml" Id="R291abf837c974e91" /><Relationship Type="http://schemas.openxmlformats.org/officeDocument/2006/relationships/slide" Target="/ppt/slides/slide13.xml" Id="R12a417010536420d" /><Relationship Type="http://schemas.openxmlformats.org/officeDocument/2006/relationships/slide" Target="/ppt/slides/slide14.xml" Id="R4f09b488d7ae4c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be6b0100f2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145daf1c3a4de8" /><Relationship Type="http://schemas.openxmlformats.org/officeDocument/2006/relationships/notesMaster" Target="/ppt/notesMasters/notesMaster1.xml" Id="Rc3fef48e05ee4f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104a27f3684326" /><Relationship Type="http://schemas.openxmlformats.org/officeDocument/2006/relationships/notesMaster" Target="/ppt/notesMasters/notesMaster1.xml" Id="R8d93286c2aef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510b0d2b8f4e56" /><Relationship Type="http://schemas.openxmlformats.org/officeDocument/2006/relationships/notesMaster" Target="/ppt/notesMasters/notesMaster1.xml" Id="R2974dde25b1b44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abd81bddf34cc9" /><Relationship Type="http://schemas.openxmlformats.org/officeDocument/2006/relationships/notesMaster" Target="/ppt/notesMasters/notesMaster1.xml" Id="R5584a7daaae8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d0d24a39fe484c" /><Relationship Type="http://schemas.openxmlformats.org/officeDocument/2006/relationships/notesMaster" Target="/ppt/notesMasters/notesMaster1.xml" Id="R41516fece6554d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cd3589ae9f4caa" /><Relationship Type="http://schemas.openxmlformats.org/officeDocument/2006/relationships/notesMaster" Target="/ppt/notesMasters/notesMaster1.xml" Id="Rc688b932db7f49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e2474736894363" /><Relationship Type="http://schemas.openxmlformats.org/officeDocument/2006/relationships/notesMaster" Target="/ppt/notesMasters/notesMaster1.xml" Id="Rde3d51abd12b4c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8b928b2e944eb2" /><Relationship Type="http://schemas.openxmlformats.org/officeDocument/2006/relationships/notesMaster" Target="/ppt/notesMasters/notesMaster1.xml" Id="R6d97752ec02844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db9b7fb2224f1e" /><Relationship Type="http://schemas.openxmlformats.org/officeDocument/2006/relationships/notesMaster" Target="/ppt/notesMasters/notesMaster1.xml" Id="R4823b9ab7b9a4b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f4e700a96a4400" /><Relationship Type="http://schemas.openxmlformats.org/officeDocument/2006/relationships/notesMaster" Target="/ppt/notesMasters/notesMaster1.xml" Id="R39fa2c20fdf745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24d3b8ce664efe" /><Relationship Type="http://schemas.openxmlformats.org/officeDocument/2006/relationships/notesMaster" Target="/ppt/notesMasters/notesMaster1.xml" Id="R71fcb47d87d04b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c3afb44aff4d5e" /><Relationship Type="http://schemas.openxmlformats.org/officeDocument/2006/relationships/notesMaster" Target="/ppt/notesMasters/notesMaster1.xml" Id="R79a6a0f59b1d4b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ef2f44e7c64476" /><Relationship Type="http://schemas.openxmlformats.org/officeDocument/2006/relationships/notesMaster" Target="/ppt/notesMasters/notesMaster1.xml" Id="Rb43ed720f49443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b08a8232b74e67" /><Relationship Type="http://schemas.openxmlformats.org/officeDocument/2006/relationships/notesMaster" Target="/ppt/notesMasters/notesMaster1.xml" Id="R64652428e63a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발표집 표지_임채현.hwp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구성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</a:t>
            </a:r>
          </a:p>
          <a:p xmlns:a="http://schemas.openxmlformats.org/drawingml/2006/main">
            <a:r>
              <a:t>고령자 낙상사고: 한국소비자원. 손상환자 통계: 질병관리청. 간병 인력: 라포르시안.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요구사항 정의서_임채현.hwp FR-AD-600, FR-AD-601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시스템 아키텍처.png, 프로젝트기획서_임채현.hwp, 요구사항 정의서_임채현.hwp NFR-DV-001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기술 스택.png,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</a:t>
            </a:r>
          </a:p>
          <a:p xmlns:a="http://schemas.openxmlformats.org/drawingml/2006/main">
            <a:r>
              <a:t>팀 밖 참여자 2명의 모의 환경 영상 평가: 낙상 14회, 침대 이탈 6회. 전체 경로 처리 속도 실측 결과.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간호사 대시보드.png, 요구사항 정의서_임채현.hwp AIO_016, FR-AD-300~315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조치 기록.png, 요구사항 정의서_임채현.hwp FR-AD-312~315, FR-AD-400~412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관리자 대시보드.png, 요구사항 정의서_임채현.hwp AIO_006, FR-AD-200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요구사항 정의서_임채현.hwp FR-AD-201~212, FR-AD-500~508, FR-AD-600~601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요구사항 정의서_임채현.hwp NFR-TS-002, NFR-TS-008, NFR-SE-001, NFR-RL-001, NFR-DV-001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기대효과 및 활용방안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단체사진.jpg, 프로젝트기획서_임채현.hwp 참여 인원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0f25628e4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411d37ea64ec1" /><Relationship Type="http://schemas.openxmlformats.org/officeDocument/2006/relationships/slideLayout" Target="/ppt/slideLayouts/slideLayout1.xml" Id="Rbe49549626fb46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9549626fb46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eac029b47430a" /><Relationship Type="http://schemas.openxmlformats.org/officeDocument/2006/relationships/image" Target="/ppt/media/image.png" Id="Ra12ae639991f4e0b" /><Relationship Type="http://schemas.openxmlformats.org/officeDocument/2006/relationships/notesSlide" Target="/ppt/notesSlides/notesSlide1.xml" Id="R11bab4be33bb4a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87a5894444ae5" /><Relationship Type="http://schemas.openxmlformats.org/officeDocument/2006/relationships/notesSlide" Target="/ppt/notesSlides/notesSlide2.xml" Id="Re730a383885143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bd2f0777945ae" /><Relationship Type="http://schemas.openxmlformats.org/officeDocument/2006/relationships/notesSlide" Target="/ppt/notesSlides/notesSlide3.xml" Id="R8c48b145e83f42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139f8660b4533" /><Relationship Type="http://schemas.openxmlformats.org/officeDocument/2006/relationships/notesSlide" Target="/ppt/notesSlides/notesSlide4.xml" Id="Rfb2487b62fca47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245b13edb4dd5" /><Relationship Type="http://schemas.openxmlformats.org/officeDocument/2006/relationships/image" Target="/ppt/media/image2.png" Id="Rb31d683bdd0e4a1f" /><Relationship Type="http://schemas.openxmlformats.org/officeDocument/2006/relationships/notesSlide" Target="/ppt/notesSlides/notesSlide5.xml" Id="R069746e00a084b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a7b1d10734b05" /><Relationship Type="http://schemas.openxmlformats.org/officeDocument/2006/relationships/image" Target="/ppt/media/image3.png" Id="R606f411cbe9e44c8" /><Relationship Type="http://schemas.openxmlformats.org/officeDocument/2006/relationships/notesSlide" Target="/ppt/notesSlides/notesSlide6.xml" Id="R367d1bf979af40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0075b08f34888" /><Relationship Type="http://schemas.openxmlformats.org/officeDocument/2006/relationships/notesSlide" Target="/ppt/notesSlides/notesSlide7.xml" Id="Rc651a691d1e243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7df644c7b4d68" /><Relationship Type="http://schemas.openxmlformats.org/officeDocument/2006/relationships/image" Target="/ppt/media/image4.png" Id="R2bb828837b2643f6" /><Relationship Type="http://schemas.openxmlformats.org/officeDocument/2006/relationships/notesSlide" Target="/ppt/notesSlides/notesSlide8.xml" Id="R8869736f2a6f42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3259d542945eb" /><Relationship Type="http://schemas.openxmlformats.org/officeDocument/2006/relationships/image" Target="/ppt/media/image5.png" Id="R4cbf5ae0738a4b7c" /><Relationship Type="http://schemas.openxmlformats.org/officeDocument/2006/relationships/notesSlide" Target="/ppt/notesSlides/notesSlide9.xml" Id="Re6861ab957bd4f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8067b63f548ce" /><Relationship Type="http://schemas.openxmlformats.org/officeDocument/2006/relationships/image" Target="/ppt/media/image6.png" Id="Rd1865bad86f94179" /><Relationship Type="http://schemas.openxmlformats.org/officeDocument/2006/relationships/notesSlide" Target="/ppt/notesSlides/notesSlide10.xml" Id="R13da8f3df0544c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eb149e661450d" /><Relationship Type="http://schemas.openxmlformats.org/officeDocument/2006/relationships/notesSlide" Target="/ppt/notesSlides/notesSlide11.xml" Id="Rbc4a0ed40a9449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d5b03a2294472" /><Relationship Type="http://schemas.openxmlformats.org/officeDocument/2006/relationships/notesSlide" Target="/ppt/notesSlides/notesSlide12.xml" Id="R74ea79b2635240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9efaa700f4788" /><Relationship Type="http://schemas.openxmlformats.org/officeDocument/2006/relationships/notesSlide" Target="/ppt/notesSlides/notesSlide13.xml" Id="R50bc3becd5c34d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9414461d74d36" /><Relationship Type="http://schemas.openxmlformats.org/officeDocument/2006/relationships/image" Target="/ppt/media/image.jpeg" Id="R070376ae7d164a5d" /><Relationship Type="http://schemas.openxmlformats.org/officeDocument/2006/relationships/notesSlide" Target="/ppt/notesSlides/notesSlide14.xml" Id="R9325e38067804e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ae639991f4e0b"/>
          <a:srcRect xmlns:a="http://schemas.openxmlformats.org/drawingml/2006/main" l="7760" t="0" r="77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425A3-8E0C-4AA0-A731-2F52520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B5D93-8332-413D-BAAD-5AB4B569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150" cy="2343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38FAC-3100-4D12-909B-340E63DE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C98D4-5976-41F6-BD14-AC05D36C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시각지능 기반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 위험상황 감지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3AAF5-AE8F-4BA0-8F50-EABAEBF9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낙상 감지부터 현장 대응 기록까지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098A5-43FF-4557-A029-3D4D4A95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  |  2026. 10. 02.</a:t>
            </a:r>
          </a:p>
        </p:txBody>
      </p:sp>
    </p:spTree>
    <p:extLst>
      <p:ext uri="{BB962C8B-B14F-4D97-AF65-F5344CB8AC3E}">
        <p14:creationId xmlns:p14="http://schemas.microsoft.com/office/powerpoint/2010/main" val="1159802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01CA2-C77F-4086-9531-24945312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E5AC0-2E94-4147-90BA-5B91FA1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발표 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06C18-D6C0-4BC2-81B5-FAD0D7F0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EB1D4-154F-4413-84C7-2279E52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45E64-61AA-4BC6-8F7E-7BE83E3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70AA9-ADEE-40C5-BCC1-3EB7AFD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0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문제와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93B9D-BEA4-42DB-A002-73FDC3A6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478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요양병원 안전관리의 필요성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55D70-CE4D-4D50-94EF-EEA7D57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AF99B-6C68-4A6D-A3BB-02A41CC1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44B60-E222-4FF2-B0CD-C7741433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서비스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25E87-2D70-457D-9B8D-2E138838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669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감지·알림·기록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1DB64-4925-4BFE-974D-70127FD1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462F0-92FB-43CF-A953-1907C1A0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1C327-53D6-456C-BFF8-D26F15C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핵심 기술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294DB-401B-4671-BED0-1A440305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AI 모델과 엣지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7C625-550B-4B9C-B4C2-7246C9B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6157A-9201-4557-96CA-EB4794F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66332-788E-41C6-B1E7-34211ED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57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구현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23CBF-A498-4198-9843-23333A6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052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간호사·관리자 관제 기능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85C73-25A7-4A9E-B981-2BBA8C7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F0B54-435B-4729-B382-56FEB1B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EDACB-F84B-43FD-AC77-F69B546B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검증과 확장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BC3C1-492C-4CD7-A29B-F45661D5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성능 결과 및 활용 방향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4B48E-9F78-49F2-8FA3-48B518BF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ED70E-D022-4EED-A727-3C508116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시각지능 기반 요양병원 위험상황 감지 서비스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10528-C278-44ED-BCE7-AE461FD2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CAE93-A7BD-47D3-B986-299AC33D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431874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0BF94-7D6E-41C4-B14A-CA115CD0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PROBLEM &amp;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2B589-EF17-412E-A8D5-15E0565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요양병원 안전관리의 공백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21B05-5239-4E9A-87B8-549C0752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BEA58-3C7E-46BC-AAEA-ECF680AA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2AB54-35FF-48ED-B5CD-900D301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고령 환자 안전사고와</a:t>
            </a:r>
          </a:p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제한된 현장 관찰 인력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F1F19-F3CE-442E-AF68-F5270465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여러 병실을 지속적으로 확인해야 하는 환경에서 위험 상황을 놓치지 않고, 담당자에게 빠르게 전달하는 체계가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34D07-8FD2-41AF-B99C-DA81B63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1581150" cy="22479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BE1F5-DB72-4C70-8BDC-72CD8BD0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7167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3.2배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354CF-9E20-4824-9D44-594ED12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032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9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65세 이상 낙상사고 증가</a:t>
            </a:r>
          </a:p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2020년 3,721건 → 2024년 11,866건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D51FC-0E6F-4134-A0D3-616B24E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57350"/>
            <a:ext cx="1581150" cy="22479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E721C-487B-4060-924E-B170074D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97167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52.9%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44A8D-87EB-49D0-BFA7-980A8B9B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0032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2025년 응급실 입원 손상환자 중</a:t>
            </a:r>
          </a:p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60세 이상 비율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0AF04-3DDE-44CF-BAAC-EC55F965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57350"/>
            <a:ext cx="1581150" cy="22479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C5F27-3AFA-4034-A3DA-3EA75B8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7167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14만 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58D16-3793-4BF0-8FE9-0E26423C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032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요양병원 필요 간병 인력 추산</a:t>
            </a:r>
          </a:p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실제 활동 인력은 약 3.8만 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9FF1D-04C3-4CB7-83EC-068ECDCD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3251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349D0-DFD1-4C00-AD1C-B4C65336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BFF2C-7951-438C-BA23-FFF71F0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672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웹캠과 Jetson Orin Nano로 낙상·낙상 의심·침대 이탈을 감지하고,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알림과 SMS, 조치기록을 연결합니다.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3ADE9-B04B-4061-856B-93940866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11C80-F747-44D6-82EA-7E175EDA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77895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415D28-E82E-4655-BB71-45415AD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SERVICE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91391-A58A-422F-9D94-AFD4585F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감지부터 현장 대응까지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79B64-6B54-4FD5-B9E5-3F26036E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E89F4-5781-492E-9EEB-F86E7FA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42D83-B389-4511-B0E9-BAAFAB2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1BF68-B9C6-46E6-AC47-755A29B5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60E03-FA7D-4928-92A1-58B5DDE4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영상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56A42-EAC8-4C70-A603-076FED1D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웹캠 영상에서 자세와 움직임을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06BD7-D2AD-4798-B640-548B272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042F8-B951-4168-9AF3-E1E2ABC9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0475F-F608-4FBB-99AA-DA539D3E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F5218-E975-45D2-B3A9-AF0E63B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12637-0246-42A3-BE08-7AC919E9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낙상·낙상 의심·침대 이탈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5F169-C554-454D-A225-65465E7F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71FD6-4CE1-4F8B-95CB-87EE45A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50431-004C-42D4-83E8-7B57EC25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D85AB-3B6C-4A13-857F-388D0FA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실시간 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6A749-652D-46DB-A4DF-375BF98C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이벤트 정보만 서버와 대시보드로 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2E5D1-29F9-4734-AFE9-5706F71A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1978D-4C58-4D4A-990E-83D0199A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AC893-C0E3-4E33-85B1-A5227101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73FBA-A567-4EF8-8CFD-D502C90D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현장 대응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89C94-B476-40A1-9E08-56818AA5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 SMS 발송 및 조치기록 등록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397A4-3CA8-4CB1-8D9E-331DC896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4BFED-30D0-49B9-AF90-B0513BF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 알림 정책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0CB11-40A8-4D99-AC4D-0DFF1EC7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낙상 감지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8E918-DD2E-4C6A-A81A-C82BA92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958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rPr>
              <a:t>간호사 대시보드 + 해당 병동 간호사 SMS + 병실 발생 시 담당 간병인 SMS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412215-D19B-4423-855F-2518730E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9522"/>
                </a:solidFill>
                <a:latin typeface="Malgun Gothic"/>
                <a:ea typeface="Malgun Gothic"/>
                <a:cs typeface="Malgun Gothic"/>
              </a:rPr>
              <a:t>낙상 의심·침대 이탈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90B48-69ED-43B4-A10C-D04EF34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00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rPr>
              <a:t>간호사 대시보드에 표시하여 현장 확인을 지원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58CF8-7167-4D56-BD68-84453D8A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A5271-BCBE-428E-B746-123B8C3B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466602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08D52-28E0-486C-B1C2-E8E0598A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C9F84-FEBC-4477-83A1-2BB589A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AAB76-16FC-4551-9CC1-4C31C2F7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505E8-5C3B-4A35-BDAA-839893D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d683bdd0e4a1f"/>
          <a:stretch xmlns:a="http://schemas.openxmlformats.org/drawingml/2006/main"/>
        </p:blipFill>
        <p:spPr>
          <a:xfrm xmlns:a="http://schemas.openxmlformats.org/drawingml/2006/main">
            <a:off x="1658938" y="1485900"/>
            <a:ext cx="8874125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9E23A-6DCD-4A10-9EC0-71F664D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원본 영상은 Jetson에서 실시간 분석하며, 서버에는 감지 유형·발생 위치·발생 시각 같은 이벤트 정보만 전달합니다.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38E9E-3282-42FD-A54B-541127B1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2E45C-8414-4226-BC68-99F887D0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228108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FFF4F-2F32-42DD-AD2A-5A7504E0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DC517-57E8-456F-A082-61935A89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기술 스택과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F0C58-785C-4AA0-B692-420EDE9C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45497-E1A8-4DAB-8D42-1444EAAD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f411cbe9e44c8"/>
          <a:stretch xmlns:a="http://schemas.openxmlformats.org/drawingml/2006/main"/>
        </p:blipFill>
        <p:spPr>
          <a:xfrm xmlns:a="http://schemas.openxmlformats.org/drawingml/2006/main">
            <a:off x="685800" y="1822009"/>
            <a:ext cx="6191250" cy="36426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AD39B-8A2F-48D3-82C5-B9B2F5FE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564FA-92ED-4FDC-9810-A30AC96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YOLO11n-Pose·ByteTrack으로 관절과 움직임을 추적하고 SVM으로 위험 상황을 판정합니다.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476FF-5080-4306-9921-3584F96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AB10A-B2DF-46FA-9C15-2FB278F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Jetson Orin Nano가 영상 분석을 수행합니다. 웹캠 영상은 상시 서버로 전송하지 않습니다.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0E3DE-2F19-4D46-B7DC-5A5ABDFF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Web &amp;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6D2BF-F147-4FE5-94B6-9A1ED95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Spring Boot·PostgreSQL·WebSocket/STOMP로 이벤트, 알림, 조치기록을 연결합니다.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64E62-357E-4545-8ADF-64231418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20FF1-D0CE-46D7-9960-733603C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032546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3599A-1825-4DD8-9D5A-24C4383E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DETECTION &amp;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92A7A-F136-4C88-9F64-FE47362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AI 감지 방식과 검증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144DC-1506-40CB-A49D-39D66307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9FF86-BF68-4430-8184-E00DCC2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44EAB-BF34-40A7-B2E8-3196DC75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낙상·낙상 의심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01B84-58F7-415D-9C1F-5E28CB0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17개 관절 기반의 0.5초 구간 특징 100개를 SVM(RBF)으로 판정합니다.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구간 점수가 연속 2회 기준을 넘으면 낙상으로 확정합니다.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7DE8F-775A-4F54-A7B8-B382DC39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침대 이탈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BAE75-50FC-4358-A88F-194ED02C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침대 관심영역(ROI)과 골반 중심점 위치, 경과 시간을 이용해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확정 이탈·이탈 의심·무경보 상태를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D1752-0621-4FCC-A83E-F489772B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04950"/>
            <a:ext cx="5162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436AB-0CE9-463B-B2CB-5ADCE284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모의 환경 최종 후보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1A362-148E-481E-82B2-0D43B88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9 /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C942E-08CA-4A8A-A142-176A1F1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 확정 감지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D8032-40BD-46CC-919F-8EBDB962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3건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D2A1A-0FF5-4955-9DB6-F0565FDB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정상 동작 오경보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C4DD8-0796-4176-869B-EAE20566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4 /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ED9C3-0C7C-4E59-B4F3-19A4108A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침대 이탈 확정 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CCA6C-D989-454D-88EC-7A113389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06196-94DD-4F87-8B9B-CE94A863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침대 이탈 확정 오경보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2C26F-76A5-45C7-8BFD-1C354EA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516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731DC-E941-4427-A802-BC3C65E5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815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초당 7.6회 처리, 9명이 있는 장면에서도 같은 속도 유지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E3D16-8D6F-48E5-8DEC-3005F023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CEFAF-49D8-4FA4-BE7C-76A41A5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581827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B0649-E9DA-40C7-BDAC-B79656EA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NURSE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6297C-80DD-4299-8533-FC9206A5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간호사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B12B6-535F-4695-931D-5DDF564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E15C4-F59D-40A0-9ED3-79DD47C4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828837b2643f6"/>
          <a:stretch xmlns:a="http://schemas.openxmlformats.org/drawingml/2006/main"/>
        </p:blipFill>
        <p:spPr>
          <a:xfrm xmlns:a="http://schemas.openxmlformats.org/drawingml/2006/main">
            <a:off x="552450" y="1718174"/>
            <a:ext cx="7429500" cy="38883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0B25C-927A-424D-8778-4C3BDF9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병동 상황을 한 화면에서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9DEF9-FC24-4F1F-8FC5-07803EE1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안전 현황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B64FA-8AF5-46AF-A97C-B5C7202C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전체·낙상·낙상 의심·침대 이탈·정상 상태 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C6FFD-A607-41DC-BAA6-EF1C8C2E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평면도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31C94-E81E-4FC7-9B30-FA5D92EA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병실과 복도의 발생 위치를 상태 색상으로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74D34-39BB-46A8-8FA5-141319B5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알림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4CB62-AB85-4404-A75F-7E34426B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낙상은 대응 등록, 낙상 의심은 확인·대응 등록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696A4-209A-4CEC-B8CA-521F01EE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14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오늘의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736E0-F343-496E-96F0-86759AFC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선택 위치의 감지 건수와 최근 기록 제공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744F5-E5F4-493D-82CC-81EC9FCE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84167-251D-4C67-B745-4A38EC83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482019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8F95A-1D08-4FFC-A9D1-DFAD7052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RESPONSE &amp;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BD441-089C-45F6-89BC-E4F4EDC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대응 등록과 조치기록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48A16-0D5C-45D1-97A0-3D7DE9D5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F08AD-134A-40C9-BBB1-161FBE2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f5ae0738a4b7c"/>
          <a:stretch xmlns:a="http://schemas.openxmlformats.org/drawingml/2006/main"/>
        </p:blipFill>
        <p:spPr>
          <a:xfrm xmlns:a="http://schemas.openxmlformats.org/drawingml/2006/main">
            <a:off x="552450" y="1581067"/>
            <a:ext cx="7239000" cy="406734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A55F0-DBD2-4AAD-A21C-AD52EAE7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 감지 이력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13842-D1DA-42B3-BEFD-780EE682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간호사는 환자명과 조치 내용을 등록합니다.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등록한 이벤트는 완료 상태로 변경하고,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미처리 알림 목록에서 제거합니다.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38B48-8232-4013-ABB5-722592C2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60EF9-23AB-4729-801C-1E5C5215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조회와 내보내기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7F230-0DFC-4784-ABA7-A5FD1ADB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기간·위치·처리 상태·이름으로 검색하고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선택 기록을 Excel, CSV, PDF로 제공합니다.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CA413-2776-4818-94CC-663ACE6E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565B8-3887-4811-96DC-8C667BC9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868483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EDEE8-4A8C-4DEA-985B-CCE364A0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ADMIN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9E33F-0A6C-48F1-9314-AB723505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관리자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3EDC8-95DB-4988-80B5-14D0FF5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A2BE9-2C66-40B1-BBA2-78A32D46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65bad86f94179"/>
          <a:stretch xmlns:a="http://schemas.openxmlformats.org/drawingml/2006/main"/>
        </p:blipFill>
        <p:spPr>
          <a:xfrm xmlns:a="http://schemas.openxmlformats.org/drawingml/2006/main">
            <a:off x="552450" y="1624246"/>
            <a:ext cx="7524750" cy="407623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1E7E5-1828-42EF-BEF5-44D3C2F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운영 현황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15239-0D48-4182-94FD-3BED23DD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활성 간호사·간병인 수, 최근 조치기록,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실시간 낙상 알림을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00799-DE8D-48DD-8FA3-CE86ABD8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사고 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DDF13-0994-4CAE-8B0A-0E805D4F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병동별·시간대별 낙상 발생 현황을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그래프로 제공해 운영 상황을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3363A-A777-4F58-9F55-C210B80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387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 메뉴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7F095-14A5-4696-BBE8-0343F04A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95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간호사·간병인 관리, 비활성화 관리,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관리 이력, 조치기록으로 이동합니다.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D2F47-00C7-4B9E-98EC-00223EA0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6BF64-52ED-449E-830F-B1B24285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9726657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8DCE5-53ED-4B5D-B088-D2460ADF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MANAGEMENT &amp; 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57894-5147-4F33-A955-F5FD0AE8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인력 정보와 SMS 발송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E5D17-C508-483D-AC97-A48E0E58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F61B5-0CB4-4F84-B057-A783E98C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6C194-224F-4095-B3CA-E4F6C1AC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관리자 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14FB8-1E31-48AB-A0BF-164570FC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3110C-55F6-4F83-884F-88BFAB8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간호사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1EA21-E5E2-4690-93AA-AD1B902A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계정 생성, 배정 병동·전화번호 수정, 비밀번호 초기화, 비활성화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8AC2A-FC17-4375-A733-F3AF0654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2E04A-CB14-47E8-B4A0-B0681B8A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간병인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83FA3-D9C8-4962-827B-1D9DC656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담당 병동·병실·전화번호 등록 및 수정, 비활성화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E8233-1EB7-4A4B-9599-5EA94ECC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38723-B3DA-4F95-AE4A-5251FFE2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 이력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9096C-C536-473D-B5E2-21A3CE35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변경·비활성화·재활성화·삭제 결과를 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5C875-BCA6-4446-B1BD-B7CD8049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470535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91BAE-AEDC-4E83-9659-6EAA1C54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85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낙상 감지 시 SMS 발송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0A0F1-6AF9-412E-BDFE-53174DE2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9609F-A0F9-4DA0-BE73-2133DB25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 병동의 활성 간호사에게 1회 발송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AA3AD-382B-4075-9ADC-68C0C1C8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B4397-4897-4019-9A83-DDADA6F4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EE729-CF8D-45EF-BBBE-11898AF6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432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병실 발생 시 담당 간병인에게도 1회 발송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A84E3-B0B2-4D5D-A251-F685510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08DBD-812C-4355-A8F9-C6F30A80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937A8-856C-4608-AADB-FC5345FD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052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낙상 의심·침대 이탈은 대시보드에만 표시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293AA-896C-4B0E-8533-0ABFDDBD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동일 이벤트는 중복 발송하지 않으며, 발송 결과와 실패 사유를 기록합니다.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049CDF-8C49-4EC8-8594-8A1D3D48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E0EDB-5DD3-4CE6-943E-2754DF97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2566355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B454F-01AF-40B7-9E28-89C10B4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PRIVACY &amp; 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97586-4817-4598-89F8-278936EA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개인정보 보호와 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ED5E3-8158-4E0B-80F8-0CB25848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836C1-D59D-4816-AB7F-EAA706B7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15A35-7ABC-4783-8824-1ADC585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44AC1-3AA1-4FE2-B963-15359C29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4EFA6-519B-4F51-B308-193F4FCE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2B512-58CF-4546-BA0E-7DEC96E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영상 정보 보호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108CC-7FB8-49D7-87AE-28926B34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원본 영상은 Jetson에서 실시간 분석합니다. 서버에는 감지 유형, 발생 위치, 발생 시각 등 이벤트 정보만 전송합니다.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62AC3-10EB-47B0-89E8-F0D037A6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19828-4EC2-4692-8794-14C73152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777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83032-76A2-4BBA-A658-D2E77DA3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6E6D9-B421-4FD3-8D6C-1CB70BD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전화번호 보호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0C1CE-30C6-4B79-9BE2-01C892D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간병인 전화번호는 권한이 있는 관리자와 시스템만 처리하며 목록에서는 마스킹하여 표시합니다.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77A16-F8CB-483C-B8DA-873F965E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022C2-CFB1-4F8B-A705-07B895C6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67B6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D8C40-DCCB-44DB-B4F0-5BCC22DD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DC436-81CC-4C25-BE0A-EA5DF9D0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알림 독립성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B9E65-30EF-43C3-90E6-45A5FF9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SMS 발송이 실패해도 대시보드 알림과 음성 안내는 지연하거나 중단하지 않습니다.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F4995-4EA6-4862-9246-D42ECC0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591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86F3E-8764-4834-A13E-2574F71D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운영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DBB7F-56E0-4D08-A4AA-F678B0CE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62575"/>
            <a:ext cx="847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rPr>
              <a:t>감지 정보 수신 후 1초 이내 화면 반영, 낙상 이벤트 수신 후 3초 이내 SMS 발송 요청을 목표로 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63951-997A-4A95-A44D-B268ED90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BE421-AD95-4793-B6F0-0CE3CA4C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940339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0A2DB-4D1A-4568-9FB9-E08A4CB1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IMPACT &amp;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B91B7-BD51-4295-BDF3-2F893AC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기대효과와 확장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FFB66-183E-40E2-889C-9F3F29A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A6FB3-4737-4B06-975D-6BFC82C0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42750-3897-40B6-9A85-06D79866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FD5D5-1A5A-4A88-B3F4-7EF624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404AD-FB94-47CC-AB1A-4C9B512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상황 확인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1978-3A25-4B3C-8227-4008273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병실과 복도의 발생 위치, 유형을 바로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18DC2-71C8-41C3-9306-E3ECC358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3805C-E126-4D02-8053-8EB6BA7E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현장 대응 흐름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7299B-5F5E-4F07-9D78-A5CB0126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SMS 알림과 조치기록을 연결해 대응 경과를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66ABE-9E0F-4AF3-952A-06AE16E6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2A33A-7B22-472B-96B8-592FE416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관찰 부담 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58C80-E1F9-404F-AAF1-A5914785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여러 CCTV 화면을 지속적으로 확인하는 부담을 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735F7-A405-43AB-A93C-E7F3D08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8768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01A4A-5F10-4BE4-9DEF-6DFE35BE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확장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10335-9269-4E06-B65F-CC5FA1F1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377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요양병원에서 시작해 요양원과 재활병원 등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고령자·거동 불편 환자가 많은 시설로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적용 범위를 넓힐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B885A-B2CB-4E50-BFF0-0201676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377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A2D90-9BC7-4739-8BD8-5FF5A82C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향후 병원 서비스 로봇과 연계하여</a:t>
            </a:r>
          </a:p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발생 위치의 현장 확인을 지원할 수 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074FE-CCBE-4D82-9486-A10DBD43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071CD-CEA2-4810-8638-4B5D5AB7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6158842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376ae7d164a5d"/>
          <a:srcRect xmlns:a="http://schemas.openxmlformats.org/drawingml/2006/main" l="19375" t="0" r="19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0"/>
            <a:ext cx="56007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9DAE9-22E4-440D-8374-3B646923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9DDE7-9599-4EA0-8B70-0416C0D4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71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F33AD-BCF7-4DFD-BD7E-080FAAC8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감지부터 대응까지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안전을 연결합니다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FA50E-91A4-45EC-A2C6-F768C514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B5FCA-EB8D-450E-8EFE-2AC98B6D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임채현 · 구예진 · 구정경 · 김태헌 · 박건희</a:t>
            </a:r>
          </a:p>
        </p:txBody>
      </p:sp>
    </p:spTree>
    <p:extLst>
      <p:ext uri="{BB962C8B-B14F-4D97-AF65-F5344CB8AC3E}">
        <p14:creationId xmlns:p14="http://schemas.microsoft.com/office/powerpoint/2010/main" val="826920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2026-09-27T05:37:42.1830000Z</dcterms:created>
  <dcterms:modified xsi:type="dcterms:W3CDTF">2026-09-27T05:37:42.1830000Z</dcterms:modified>
</coreProperties>
</file>