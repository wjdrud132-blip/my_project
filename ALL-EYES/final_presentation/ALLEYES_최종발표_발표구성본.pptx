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8fe2d27924aec" /><Relationship Type="http://schemas.openxmlformats.org/officeDocument/2006/relationships/extended-properties" Target="/docProps/app.xml" Id="Ra28429dc40ae4b53" /><Relationship Type="http://schemas.openxmlformats.org/officeDocument/2006/relationships/officeDocument" Target="/ppt/presentation.xml" Id="R214357ea4953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7ccaa9b54443dd"/>
  </p:sldMasterIdLst>
  <p:notesMasterIdLst>
    <p:notesMasterId xmlns:r="http://schemas.openxmlformats.org/officeDocument/2006/relationships" r:id="Rf87f7134f4c04eaf"/>
  </p:notesMasterIdLst>
  <p:sldIdLst>
    <p:sldId xmlns:r="http://schemas.openxmlformats.org/officeDocument/2006/relationships" id="256" r:id="R8479208658c44334"/>
    <p:sldId xmlns:r="http://schemas.openxmlformats.org/officeDocument/2006/relationships" id="257" r:id="R0338ecdd522342ba"/>
    <p:sldId xmlns:r="http://schemas.openxmlformats.org/officeDocument/2006/relationships" id="258" r:id="Re453eb23188e44df"/>
    <p:sldId xmlns:r="http://schemas.openxmlformats.org/officeDocument/2006/relationships" id="259" r:id="Rd9b52284397246a3"/>
    <p:sldId xmlns:r="http://schemas.openxmlformats.org/officeDocument/2006/relationships" id="260" r:id="R57ee916c5585406d"/>
    <p:sldId xmlns:r="http://schemas.openxmlformats.org/officeDocument/2006/relationships" id="261" r:id="R7e9bc059bf8847ac"/>
    <p:sldId xmlns:r="http://schemas.openxmlformats.org/officeDocument/2006/relationships" id="262" r:id="Rbbb73e0518ff45d3"/>
    <p:sldId xmlns:r="http://schemas.openxmlformats.org/officeDocument/2006/relationships" id="263" r:id="R00ab2fd216fa4dcd"/>
    <p:sldId xmlns:r="http://schemas.openxmlformats.org/officeDocument/2006/relationships" id="264" r:id="Rad14af6d1d9b4281"/>
    <p:sldId xmlns:r="http://schemas.openxmlformats.org/officeDocument/2006/relationships" id="265" r:id="R053d345712e54af0"/>
    <p:sldId xmlns:r="http://schemas.openxmlformats.org/officeDocument/2006/relationships" id="266" r:id="Rb2a0f77b1d214f7e"/>
    <p:sldId xmlns:r="http://schemas.openxmlformats.org/officeDocument/2006/relationships" id="267" r:id="Rf8fd0e9a868a45b8"/>
    <p:sldId xmlns:r="http://schemas.openxmlformats.org/officeDocument/2006/relationships" id="268" r:id="Rdd01765fa8904221"/>
    <p:sldId xmlns:r="http://schemas.openxmlformats.org/officeDocument/2006/relationships" id="269" r:id="R8e094aae7174412c"/>
    <p:sldId xmlns:r="http://schemas.openxmlformats.org/officeDocument/2006/relationships" id="270" r:id="R8882cad593034018"/>
    <p:sldId xmlns:r="http://schemas.openxmlformats.org/officeDocument/2006/relationships" id="271" r:id="Rf0d8621b44aa4660"/>
    <p:sldId xmlns:r="http://schemas.openxmlformats.org/officeDocument/2006/relationships" id="272" r:id="R6a0d63a479df4d87"/>
    <p:sldId xmlns:r="http://schemas.openxmlformats.org/officeDocument/2006/relationships" id="273" r:id="Rc800fc6f1cef4cc9"/>
    <p:sldId xmlns:r="http://schemas.openxmlformats.org/officeDocument/2006/relationships" id="274" r:id="Ra32634a66196489f"/>
    <p:sldId xmlns:r="http://schemas.openxmlformats.org/officeDocument/2006/relationships" id="275" r:id="Rf9f6787d5b9649f3"/>
    <p:sldId xmlns:r="http://schemas.openxmlformats.org/officeDocument/2006/relationships" id="276" r:id="R7a8d256fbbf444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1ca28b97848b2" /><Relationship Type="http://schemas.openxmlformats.org/officeDocument/2006/relationships/slideMaster" Target="/ppt/slideMasters/slideMaster1.xml" Id="R2c7ccaa9b54443dd" /><Relationship Type="http://schemas.openxmlformats.org/officeDocument/2006/relationships/notesMaster" Target="/ppt/notesMasters/notesMaster1.xml" Id="Rf87f7134f4c04eaf" /><Relationship Type="http://schemas.openxmlformats.org/officeDocument/2006/relationships/presProps" Target="/ppt/presProps.xml" Id="R60f99f8188d24c05" /><Relationship Type="http://schemas.openxmlformats.org/officeDocument/2006/relationships/tableStyles" Target="/ppt/tableStyles.xml" Id="Re8e90d8913204216" /><Relationship Type="http://schemas.openxmlformats.org/officeDocument/2006/relationships/slide" Target="/ppt/slides/slide1.xml" Id="R8479208658c44334" /><Relationship Type="http://schemas.openxmlformats.org/officeDocument/2006/relationships/slide" Target="/ppt/slides/slide2.xml" Id="R0338ecdd522342ba" /><Relationship Type="http://schemas.openxmlformats.org/officeDocument/2006/relationships/slide" Target="/ppt/slides/slide3.xml" Id="Re453eb23188e44df" /><Relationship Type="http://schemas.openxmlformats.org/officeDocument/2006/relationships/slide" Target="/ppt/slides/slide4.xml" Id="Rd9b52284397246a3" /><Relationship Type="http://schemas.openxmlformats.org/officeDocument/2006/relationships/slide" Target="/ppt/slides/slide5.xml" Id="R57ee916c5585406d" /><Relationship Type="http://schemas.openxmlformats.org/officeDocument/2006/relationships/slide" Target="/ppt/slides/slide6.xml" Id="R7e9bc059bf8847ac" /><Relationship Type="http://schemas.openxmlformats.org/officeDocument/2006/relationships/slide" Target="/ppt/slides/slide7.xml" Id="Rbbb73e0518ff45d3" /><Relationship Type="http://schemas.openxmlformats.org/officeDocument/2006/relationships/slide" Target="/ppt/slides/slide8.xml" Id="R00ab2fd216fa4dcd" /><Relationship Type="http://schemas.openxmlformats.org/officeDocument/2006/relationships/slide" Target="/ppt/slides/slide9.xml" Id="Rad14af6d1d9b4281" /><Relationship Type="http://schemas.openxmlformats.org/officeDocument/2006/relationships/slide" Target="/ppt/slides/slide10.xml" Id="R053d345712e54af0" /><Relationship Type="http://schemas.openxmlformats.org/officeDocument/2006/relationships/slide" Target="/ppt/slides/slide11.xml" Id="Rb2a0f77b1d214f7e" /><Relationship Type="http://schemas.openxmlformats.org/officeDocument/2006/relationships/slide" Target="/ppt/slides/slide12.xml" Id="Rf8fd0e9a868a45b8" /><Relationship Type="http://schemas.openxmlformats.org/officeDocument/2006/relationships/slide" Target="/ppt/slides/slide13.xml" Id="Rdd01765fa8904221" /><Relationship Type="http://schemas.openxmlformats.org/officeDocument/2006/relationships/slide" Target="/ppt/slides/slide14.xml" Id="R8e094aae7174412c" /><Relationship Type="http://schemas.openxmlformats.org/officeDocument/2006/relationships/slide" Target="/ppt/slides/slide15.xml" Id="R8882cad593034018" /><Relationship Type="http://schemas.openxmlformats.org/officeDocument/2006/relationships/slide" Target="/ppt/slides/slide16.xml" Id="Rf0d8621b44aa4660" /><Relationship Type="http://schemas.openxmlformats.org/officeDocument/2006/relationships/slide" Target="/ppt/slides/slide17.xml" Id="R6a0d63a479df4d87" /><Relationship Type="http://schemas.openxmlformats.org/officeDocument/2006/relationships/slide" Target="/ppt/slides/slide18.xml" Id="Rc800fc6f1cef4cc9" /><Relationship Type="http://schemas.openxmlformats.org/officeDocument/2006/relationships/slide" Target="/ppt/slides/slide19.xml" Id="Ra32634a66196489f" /><Relationship Type="http://schemas.openxmlformats.org/officeDocument/2006/relationships/slide" Target="/ppt/slides/slide20.xml" Id="Rf9f6787d5b9649f3" /><Relationship Type="http://schemas.openxmlformats.org/officeDocument/2006/relationships/slide" Target="/ppt/slides/slide21.xml" Id="R7a8d256fbbf444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a2adba0864e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7c1a57cb64432a" /><Relationship Type="http://schemas.openxmlformats.org/officeDocument/2006/relationships/notesMaster" Target="/ppt/notesMasters/notesMaster1.xml" Id="Rae3c8f9c40ef40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c5bea7ea44eac" /><Relationship Type="http://schemas.openxmlformats.org/officeDocument/2006/relationships/notesMaster" Target="/ppt/notesMasters/notesMaster1.xml" Id="Rdf9617f161aa4a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68e9cd8c0c4436" /><Relationship Type="http://schemas.openxmlformats.org/officeDocument/2006/relationships/notesMaster" Target="/ppt/notesMasters/notesMaster1.xml" Id="R19568fa7b352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bb76f1140b49b2" /><Relationship Type="http://schemas.openxmlformats.org/officeDocument/2006/relationships/notesMaster" Target="/ppt/notesMasters/notesMaster1.xml" Id="R1bf911707c2e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258bab63c64193" /><Relationship Type="http://schemas.openxmlformats.org/officeDocument/2006/relationships/notesMaster" Target="/ppt/notesMasters/notesMaster1.xml" Id="R27c45007051d48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0a3508b7146c3" /><Relationship Type="http://schemas.openxmlformats.org/officeDocument/2006/relationships/notesMaster" Target="/ppt/notesMasters/notesMaster1.xml" Id="Rfc91ab2022db4f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c60a4c8b974799" /><Relationship Type="http://schemas.openxmlformats.org/officeDocument/2006/relationships/notesMaster" Target="/ppt/notesMasters/notesMaster1.xml" Id="Raab4b2c09e5e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d28e6b3e1a4f51" /><Relationship Type="http://schemas.openxmlformats.org/officeDocument/2006/relationships/notesMaster" Target="/ppt/notesMasters/notesMaster1.xml" Id="R4aaea57bc67642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a0ccb3a926475f" /><Relationship Type="http://schemas.openxmlformats.org/officeDocument/2006/relationships/notesMaster" Target="/ppt/notesMasters/notesMaster1.xml" Id="R3d5fa74169a24b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7e527a8bde4c60" /><Relationship Type="http://schemas.openxmlformats.org/officeDocument/2006/relationships/notesMaster" Target="/ppt/notesMasters/notesMaster1.xml" Id="Re0188ad4d44448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02f813f2f14b5b" /><Relationship Type="http://schemas.openxmlformats.org/officeDocument/2006/relationships/notesMaster" Target="/ppt/notesMasters/notesMaster1.xml" Id="R8cc6c92e893541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8e10e5a05b4329" /><Relationship Type="http://schemas.openxmlformats.org/officeDocument/2006/relationships/notesMaster" Target="/ppt/notesMasters/notesMaster1.xml" Id="R434972f5285d49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a8e85973a4679" /><Relationship Type="http://schemas.openxmlformats.org/officeDocument/2006/relationships/notesMaster" Target="/ppt/notesMasters/notesMaster1.xml" Id="R99305cdb4b784c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299e9c6ad1480d" /><Relationship Type="http://schemas.openxmlformats.org/officeDocument/2006/relationships/notesMaster" Target="/ppt/notesMasters/notesMaster1.xml" Id="R7763cc20b5b545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28b97414704598" /><Relationship Type="http://schemas.openxmlformats.org/officeDocument/2006/relationships/notesMaster" Target="/ppt/notesMasters/notesMaster1.xml" Id="R5f586c67da2244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7ef88df620454e" /><Relationship Type="http://schemas.openxmlformats.org/officeDocument/2006/relationships/notesMaster" Target="/ppt/notesMasters/notesMaster1.xml" Id="R7639d389792549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cf801702e54292" /><Relationship Type="http://schemas.openxmlformats.org/officeDocument/2006/relationships/notesMaster" Target="/ppt/notesMasters/notesMaster1.xml" Id="Rec6818eff3e347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a7e9447b9346b0" /><Relationship Type="http://schemas.openxmlformats.org/officeDocument/2006/relationships/notesMaster" Target="/ppt/notesMasters/notesMaster1.xml" Id="R108d3f4b4db249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4db7cd23f41cd" /><Relationship Type="http://schemas.openxmlformats.org/officeDocument/2006/relationships/notesMaster" Target="/ppt/notesMasters/notesMaster1.xml" Id="R6b81632a25324f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9a471bd89345bf" /><Relationship Type="http://schemas.openxmlformats.org/officeDocument/2006/relationships/notesMaster" Target="/ppt/notesMasters/notesMaster1.xml" Id="Rc5a8a16305bb4c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ef6213c0cc4985" /><Relationship Type="http://schemas.openxmlformats.org/officeDocument/2006/relationships/notesMaster" Target="/ppt/notesMasters/notesMaster1.xml" Id="Rd7fb34515aa4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발표집 표지_임채현.hwp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요구 구성 반영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제안배경 섹션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</a:t>
            </a:r>
          </a:p>
          <a:p xmlns:a="http://schemas.openxmlformats.org/drawingml/2006/main">
            <a:r>
              <a:t>고령자 낙상사고: 한국소비자원. 손상환자 통계: 질병관리청. 간병 인력: 라포르시안.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STP 전략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유사 제품 현황 및 비교, 차별성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시작화면.png,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설계과정 섹션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수행 방법, IoT 회로구성 설계서_임채현.hwp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요구사항 정의서_임채현.hwp FR-AD-600, FR-AD-601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테이블명세서_임채현.hwp</a:t>
            </a:r>
          </a:p>
          <a:p xmlns:a="http://schemas.openxmlformats.org/drawingml/2006/main">
            <a:r>
              <a:t>주요 운영 테이블 간 FK 관계만 단순화해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내용 섹션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기술 스택.png,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프로젝트기획서_임채현.hwp, IoT 회로구성 설계서_임채현.hwp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시스템 아키텍처.png, 프로젝트기획서_임채현.hwp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간호사 대시보드.png, 관리자 대시보드.png, 조치 기록.png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영상 파일 미제공 상태. 발표 시 실제 영상 삽입 필요. 시연 순서는 요구사항 정의서 및 화면설계서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수행 방법, 대화 중 UI 수정 내역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프로젝트기획서_임채현.hwp 기대효과 및 활용방안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단체사진.jpg, 프로젝트기획서_임채현.hwp 참여 인원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314b716484b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01b7f0f1544692" /><Relationship Type="http://schemas.openxmlformats.org/officeDocument/2006/relationships/slideLayout" Target="/ppt/slideLayouts/slideLayout1.xml" Id="Rff133ec2be0241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133ec2be0241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0b6ec646444aa" /><Relationship Type="http://schemas.openxmlformats.org/officeDocument/2006/relationships/notesSlide" Target="/ppt/notesSlides/notesSlide1.xml" Id="R140044a90d9842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bbf4fabcf49be" /><Relationship Type="http://schemas.openxmlformats.org/officeDocument/2006/relationships/notesSlide" Target="/ppt/notesSlides/notesSlide2.xml" Id="R4593756bb52841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98d7f195d4c56" /><Relationship Type="http://schemas.openxmlformats.org/officeDocument/2006/relationships/notesSlide" Target="/ppt/notesSlides/notesSlide3.xml" Id="R1bea72f83f96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73aae206c4273" /><Relationship Type="http://schemas.openxmlformats.org/officeDocument/2006/relationships/notesSlide" Target="/ppt/notesSlides/notesSlide4.xml" Id="R1d15974e3d5e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70ac0b34e4933" /><Relationship Type="http://schemas.openxmlformats.org/officeDocument/2006/relationships/notesSlide" Target="/ppt/notesSlides/notesSlide5.xml" Id="Rc387eeab4121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97e5db64e4b10" /><Relationship Type="http://schemas.openxmlformats.org/officeDocument/2006/relationships/notesSlide" Target="/ppt/notesSlides/notesSlide6.xml" Id="R306bc292e6ff40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6fcfe50fb46a9" /><Relationship Type="http://schemas.openxmlformats.org/officeDocument/2006/relationships/image" Target="/ppt/media/image.png" Id="R4de07d5fd08d4b94" /><Relationship Type="http://schemas.openxmlformats.org/officeDocument/2006/relationships/notesSlide" Target="/ppt/notesSlides/notesSlide7.xml" Id="Ra9b2173774bd48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c9c29f60c495b" /><Relationship Type="http://schemas.openxmlformats.org/officeDocument/2006/relationships/notesSlide" Target="/ppt/notesSlides/notesSlide8.xml" Id="R7d2219bd3054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74d811c7a4dcf" /><Relationship Type="http://schemas.openxmlformats.org/officeDocument/2006/relationships/notesSlide" Target="/ppt/notesSlides/notesSlide9.xml" Id="R872eb8f019d8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26910111a40ef" /><Relationship Type="http://schemas.openxmlformats.org/officeDocument/2006/relationships/notesSlide" Target="/ppt/notesSlides/notesSlide10.xml" Id="R5fec3eed0fc04e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e98bd0e334f2d" /><Relationship Type="http://schemas.openxmlformats.org/officeDocument/2006/relationships/notesSlide" Target="/ppt/notesSlides/notesSlide11.xml" Id="Rbf19364ebfa448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44f0b92d4d28" /><Relationship Type="http://schemas.openxmlformats.org/officeDocument/2006/relationships/notesSlide" Target="/ppt/notesSlides/notesSlide12.xml" Id="R276c2ae1ce274e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df0b7af704132" /><Relationship Type="http://schemas.openxmlformats.org/officeDocument/2006/relationships/image" Target="/ppt/media/image2.png" Id="Reb7a54507ee14e7f" /><Relationship Type="http://schemas.openxmlformats.org/officeDocument/2006/relationships/notesSlide" Target="/ppt/notesSlides/notesSlide13.xml" Id="R1f7b36ca5fbf47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d8cb335f44293" /><Relationship Type="http://schemas.openxmlformats.org/officeDocument/2006/relationships/notesSlide" Target="/ppt/notesSlides/notesSlide14.xml" Id="R47282e08d5604b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f6dae12b4428d" /><Relationship Type="http://schemas.openxmlformats.org/officeDocument/2006/relationships/image" Target="/ppt/media/image3.png" Id="R793807bbc0144e8a" /><Relationship Type="http://schemas.openxmlformats.org/officeDocument/2006/relationships/notesSlide" Target="/ppt/notesSlides/notesSlide15.xml" Id="R63f89c257f8d48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1996b16ac4eaf" /><Relationship Type="http://schemas.openxmlformats.org/officeDocument/2006/relationships/image" Target="/ppt/media/image4.png" Id="R2c37632a7b8242a1" /><Relationship Type="http://schemas.openxmlformats.org/officeDocument/2006/relationships/image" Target="/ppt/media/image5.png" Id="Re8525d4fcfc44ca3" /><Relationship Type="http://schemas.openxmlformats.org/officeDocument/2006/relationships/image" Target="/ppt/media/image6.png" Id="Re8a3845606024bc2" /><Relationship Type="http://schemas.openxmlformats.org/officeDocument/2006/relationships/notesSlide" Target="/ppt/notesSlides/notesSlide16.xml" Id="Rfb0c4a8f887742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7d53d69c44b54" /><Relationship Type="http://schemas.openxmlformats.org/officeDocument/2006/relationships/notesSlide" Target="/ppt/notesSlides/notesSlide17.xml" Id="R3d6c7f28bce746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46b79dafb474a" /><Relationship Type="http://schemas.openxmlformats.org/officeDocument/2006/relationships/notesSlide" Target="/ppt/notesSlides/notesSlide18.xml" Id="R0770d032bafb45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40dab27a14d82" /><Relationship Type="http://schemas.openxmlformats.org/officeDocument/2006/relationships/notesSlide" Target="/ppt/notesSlides/notesSlide19.xml" Id="R134f83c00d6b4d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61c0d69f04ccc" /><Relationship Type="http://schemas.openxmlformats.org/officeDocument/2006/relationships/image" Target="/ppt/media/image.jpeg" Id="R65988dd8f6b748fd" /><Relationship Type="http://schemas.openxmlformats.org/officeDocument/2006/relationships/notesSlide" Target="/ppt/notesSlides/notesSlide20.xml" Id="R45df4fcc51394e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f27657fd649f7" /><Relationship Type="http://schemas.openxmlformats.org/officeDocument/2006/relationships/notesSlide" Target="/ppt/notesSlides/notesSlide21.xml" Id="R59f38b0b9ee843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D401E-4422-4CC5-9035-596AB55C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4C098-D281-4CC7-A4BA-736A89A9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06BB9-2F1D-4E99-975E-11B1C892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8DDD6-888A-49F0-ABE5-5F0231C6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8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시각지능 기반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 위험상황 감지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939E1-539B-42B6-932D-200EFEEF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낙상 감지부터 현장 대응 기록까지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44031-1144-47FF-8FD8-4D49005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  |  2026. 10. 02.</a:t>
            </a:r>
          </a:p>
        </p:txBody>
      </p:sp>
    </p:spTree>
    <p:extLst>
      <p:ext uri="{BB962C8B-B14F-4D97-AF65-F5344CB8AC3E}">
        <p14:creationId xmlns:p14="http://schemas.microsoft.com/office/powerpoint/2010/main" val="1780610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B1106-D7E9-4F30-B0A0-4E960A5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00F58-7A41-44EF-B29E-3E416E7F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발표 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F0FDE-A655-4CAB-AC48-217CD997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31D9C-E62C-42F0-9BD3-F0FC436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4E9C0-AE92-4DE7-8BA3-2AEFDE5F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D7EC2-EDB1-42B8-AF58-F498AE6F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제안배경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DAA60-CEB0-47E5-A4AB-CF1B33A6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097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필요성 · STP 분석 · 타겟 · 유사 서비스 · 차별성 · 제품 소개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3C8B7-53AA-4725-AA5D-632F1D44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C5A59-63A5-4AB2-853C-AFFB14C8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7A437-896E-40C5-A32B-91D06A9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설계과정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39B27-9DA7-4489-9CAC-6552685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챌린지 포인트 · 서비스 흐름도 · ER 다이어그램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6DEFF-5E55-461C-BCCC-346900CF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91B39-6217-429B-9E35-8974A0D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53A0C-329C-40E9-B80E-47BC028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구현 내용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8EB44-B6EB-4230-B48E-2DDC1B8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86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사용 언어 및 도구 · 개발 내용 · 아키텍처 · 주요기능 · 시연 · 트러블 슈팅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FF843-8DFC-4AF7-A372-E1BD7A44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42108-A110-4C4C-B884-63DC40E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43429-E59C-497A-8381-9949A3B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향후발전방향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3931E-86C0-4900-A3C3-54B7A8B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243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기대효과 및 활용방안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BFCB2-307F-453B-A741-713DBD74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09AB4-9B84-4C20-95A5-01A7AB68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F60E2-1DDF-4F1A-BD80-A5570D7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팀 소개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9BF0A-D959-49C0-AE57-E08804AC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625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프로젝트 역할과 팀원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9B782-AE74-40D0-AB29-DA1340DB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655E5-8A1E-4A28-BC0F-0432D3C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A3273-6544-447E-B67B-7CAAD46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185092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3E3A6-3BED-4624-80E1-018D2A1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B4E1D-D893-4C61-85CE-4F125CA9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01  제안배경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B0578-355C-4551-B9DF-AFAB8AC0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문제의식과 서비스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E7029-061A-4F51-81FA-0648580C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27787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44532-239F-4A64-A6D5-FB2AB05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47B6E-0CA6-4F2C-928D-5CBD881B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제안배경 · 필요성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90C89-0A49-4DE4-A8E3-78315975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AD806-BCDB-47E0-A810-C4977D18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34F8F-6052-4DE6-BFD4-6598B810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0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요양병원은 고령 환자의</a:t>
            </a:r>
          </a:p>
          <a:p xmlns:a="http://schemas.openxmlformats.org/drawingml/2006/main">
            <a:pPr algn="l">
              <a:def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상황을 빠르게 확인해야 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00D59-955C-4CBA-B314-67BE6BC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환자의 낙상 위험은 높아지고, 제한된 인력은 여러 병실을 동시에 관찰해야 합니다.</a:t>
            </a:r>
          </a:p>
          <a:p xmlns:a="http://schemas.openxmlformats.org/drawingml/2006/main">
            <a:pPr algn="l">
              <a:def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기존 CCTV의 단순 관찰만으로는 위험 상황을 놓치기 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47BDF-F223-4B59-A327-F401E26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1504950" cy="21336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C2989-12CE-4409-91B1-9FCE310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3.2배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84003-F8E5-419E-B3DA-45955B5E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2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65세 이상 낙상사고 증가</a:t>
            </a:r>
          </a:p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2020년 3,721건 → 2024년 11,866건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0D801-B9AA-490F-B54A-88BB6326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1504950" cy="21336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35A85-7CB1-43C4-B637-039FD2E4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52.9%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D50AA-71BD-4A28-9FCF-5CF4495B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2025년 응급실 입원 손상환자 중</a:t>
            </a:r>
          </a:p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60세 이상 비율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0770A-97F9-409C-87D0-76ADDE1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1504950" cy="21336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8D45C-CCC6-4D6E-979C-57030CE7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3.8만 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C2BDA-3CE1-4D60-902E-480FA89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1937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요양병원 실제 활동 간병 인력</a:t>
            </a:r>
          </a:p>
          <a:p xmlns:a="http://schemas.openxmlformats.org/drawingml/2006/main">
            <a:pPr algn="ctr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필요 인력 추산은 약 14만 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0D463-B40D-4FFA-B1B7-86F073A1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287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4F352-D132-42C8-96B7-67D7B3CC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해결 방향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6A712-6B37-4098-9500-6E71FC8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720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AI가 낙상·낙상 의심·침대 이탈을 감지하고, 담당자에게 즉시 알려 현장 대응과 기록을 연결합니다.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8210C-627A-471F-961D-AAD7D83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08BA6-6C86-4500-BFE4-FDFD6AD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917745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E7919-76BD-4D29-A056-F83FF44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9075C-0434-4FCF-AF38-E1A3CDF7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STP 분석과 타겟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5C37-E3CA-4DE6-A246-CD3ECC4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12BF4-F4BA-4894-8C00-C51B080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F9F3E-86CC-4FDA-8924-23E1875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162300" cy="3333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A2A3C-2229-49A4-859A-3BA694DA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Segmentation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9A52F-A183-43CC-A4E0-D39128DC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628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요양병원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노인요양시설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재활병원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9DFE4-768B-47D6-8107-F7D73D43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3162300" cy="3333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AEFDB-548E-43DF-AFDE-299589F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Targeting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CEEC3-D0FF-44A7-9ED9-288321B1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628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1차 표적 시장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고객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제한된 인력으로 다수 환자를 돌보는 현장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2D612-7894-4706-A230-C5F9B86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38300"/>
            <a:ext cx="3162300" cy="3333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61A7B-A783-4B02-9FFE-BCE81E1F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Positioning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5D8DE-66A2-4F46-82C1-BDB400BB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2628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웹캠과 Jetson으로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위험 상황을 감지하고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대시보드·SMS·조치기록으로</a:t>
            </a:r>
          </a:p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대응을 연결하는 안전관리 서비스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7E9F0-407A-493F-936B-0E03D9AE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핵심 타겟: 고령 환자 안전관리와 즉시 대응이 필요한 요양병원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C00BC-2CD9-4FD3-ABA2-47C5614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F5E4E-7470-4A93-B348-BB7B3399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534076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C1E9D-38B7-46DF-8EFE-A1D9D88E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3C4B5-1362-4E76-BF40-63D272E7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유사 서비스와 차별성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35EAB-9661-478C-9F67-CEF86792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F17BC-2903-426D-B808-149BC8E0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B58CB-32D1-4E67-82BC-DE51046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유사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ED1D1-4AA0-4CCF-8F9C-9662862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572CA-D0A7-4AD0-9507-6D276CE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Be:Clever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2BDDD-94AA-4297-A83B-2F09720C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288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7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AI 영상분석 기반 낙상·이상행동 감지, 다중 병실 모니터링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8285B-8AF9-4481-909A-B0329CE8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0FA51-2EB5-46EC-8013-AE50087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Vayyar Care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D1C71-D63E-4977-8269-3913937A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4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4D 레이더 기반 낙상 감지, 재실 및 활동 패턴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CDDC5-59F2-4D40-887D-91439967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ALLEYES 차별성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D7FE4-3A02-41F8-B1CF-5CAE4D2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ABAFD-6E39-448A-9F22-823F3B2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19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엣지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388DD-8255-4F67-821A-09734D3C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웹캠 영상을 Jetson에서 분석하고 원본 영상 상시 전송을 줄임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D17C6-A303-47B5-9BFF-1D16777C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6205B-A345-4742-8E1C-766B844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8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알림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7837D-65B3-4089-B724-40ED26A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확정 낙상은 병동 간호사와 담당 간병인에게 SMS 1회 발송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A192B-FE0D-4FDA-AA7A-AB5D1AC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DE47C-B9C1-4918-96CC-E1A3796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57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대응 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C5441-0C9A-450E-BD9F-25FDA4C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0527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대시보드 알림부터 현장 조치와 기록 조회까지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FB835-B0A8-47C3-B171-415F763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766EC-301C-4103-85AF-5D4D1EB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582043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4A9D8-97DF-4FC4-AE53-589E504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PROPOSAL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58419-AF9C-48A2-896B-629ACF7A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제품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1A23E-2F2F-4C00-B484-B24A1EF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59DBB-4585-4AE0-81DA-9E8537C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07d5fd08d4b94"/>
          <a:stretch xmlns:a="http://schemas.openxmlformats.org/drawingml/2006/main"/>
        </p:blipFill>
        <p:spPr>
          <a:xfrm xmlns:a="http://schemas.openxmlformats.org/drawingml/2006/main">
            <a:off x="571500" y="1891297"/>
            <a:ext cx="6191250" cy="2942056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0CB3A-E395-4E6E-95DE-C7867759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38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FDDF2-4457-4F92-8B68-D1F99D4E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병동 통합 관제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3608-1C94-49BC-9CA9-D995004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4A0F3-7981-465B-B279-AE5D37FF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위험 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614FA-043A-41D9-B4E6-994D489A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낙상·낙상 의심·침대 이탈 자동 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267B2-92E8-4944-A59D-189DF646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64367-D7B3-4713-B5A5-DD3A85B9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실시간 관제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8A8EB-58AB-4C19-A4A1-B6E3EE8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병동 평면도와 알림 목록에서 발생 위치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21B17-B927-4529-8146-D777CB5B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6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13739-6BE0-441A-8BFD-6FE918D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7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현장 대응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98B6C-1F15-4664-BA22-BBEAD3E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확정 낙상 SMS 발송, 조치 등록과 이력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DC9E5-2390-43BF-82A2-18FA133D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4B592-C9D4-48AE-B887-7AEAB8B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1291801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4BBA0-E341-4857-8DE2-85446B6B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758D1-E6A0-4067-97EC-A69DEB4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02  설계과정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DF26F-1515-4F0D-ADB9-481F7384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조건을 반영한 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C70C5-BF3F-4F9B-8815-7BE27DAF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1004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19B16-AE09-4248-B8F7-509AC793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B4401-CB03-47F3-A12B-66A0B51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챌린지 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725C7-1540-4E97-AE5D-CFDDC6D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9512F-F7D0-4973-8D03-2A9F88A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554DE-92BB-464E-AA53-82F1D56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8AD08-72D6-4481-BC9C-24CC3F03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EDD22-DB8D-49BA-B914-4D40A5A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낙상과 정상 행동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0A8E9-9B6D-446E-9BEA-313D556F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낙상·낙상 의심은 자세 변화와 시간 구간 점수를 사용해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1F87E-75FE-4864-BC55-9C8D2F7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811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BEC12-BA99-45B8-A784-83886B6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200EF-17B9-485F-94E2-965359E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침대 이탈 오경보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C12CF-94B2-49A1-A9CC-0783BD4E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침대 ROI와 인물 위치, 경과 시간으로 실제 이탈 여부를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6222F-6327-41B0-9D0B-29709A60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62377-9E49-4C3E-9F9B-C45FE15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5F540-BB22-4B12-85F2-46D0C18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제한된 엣지 자원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1E784-8474-4FE1-8282-14F9620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 Orin Nano에서 실제 카메라 조건의 처리 속도를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DE4B3-3C84-47E4-B491-0B6A0BFE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9090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2EAC2-A3C3-4C1B-981F-585001C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1C9B4-8E65-4D42-A018-8DAFAA79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576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감지 이후 대응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16DEB-2E0B-4D37-9974-684F1E6D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대시보드 알림, SMS, 조치기록을 같은 이벤트 ID로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1CBF6-850F-45BB-9B6B-C605340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EE55E-740B-4C03-8883-332503F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96860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3642F4-4ADF-41B6-86FE-33EE319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A730B-7E48-4DB5-B51F-C2AFEEE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서비스 흐름도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F4F6E-D517-4C2A-A60B-E8F6C77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D87D9-BA0E-443E-9AA2-6267FD01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641BE-2978-4ACB-BD67-ADEA502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EB3B1-DD14-4444-AC2B-3A03C0CB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88220-E927-4697-B0DD-66D0653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카메라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7D1A2-6C4D-41B4-BDD6-614D300F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웹캠으로 병실·복도 영상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2B643-2F89-4191-8750-7BBF38DF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0B85F-C0C2-447C-B696-9B761E98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47B0F-1A31-4816-B069-27B81D85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37099-7147-43DD-9580-DE59E170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엣지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06B8E-7D1D-412A-8904-8CBD8A9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Jetson에서 자세·움직임 분석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CE3B5-436E-4C18-B422-18D21EE0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B0224-013A-4473-A2CD-284A83D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C6A42-16EF-420E-8E46-DC028212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D4CD0-1BC5-4F18-976D-4A07C0D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이벤트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E03F7-4754-44BD-9665-0433CA5E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유형·위치·시각을 REST API로 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BA4EF-6BA7-4E3C-987B-ED927129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15D97-F6E9-43A0-8FC0-AE87E9F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FB3AC-1255-408B-9584-4B33EFCC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9C9B5-57B2-4127-9BCB-1415516D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실시간 알림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94046-9048-46DA-96E2-B4B5C23B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대시보드와 SMS로 담당자에게 전달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68808-29BB-44DA-8D67-A2F3C1FF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F94F3-6D63-44F3-B1D1-724E735C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943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B1881-468D-4661-A7AB-A0F54A3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50BCDD-40D3-4BDA-AFDE-4F03310D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조치기록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06B92-5CF9-4911-BD54-966D4B2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간호사가 조치 내용을 등록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37BEA-7B79-4756-BDBF-EB2E3C59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CFDEB-14C6-488F-A1CD-B09CDD4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낙상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E05B6-0C45-4A6F-A4FE-8C695433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대시보드 알림 + 해당 병동 활성 간호사 SMS + 병실 발생 시 담당 간병인 SMS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354BFD-9759-4C7E-A489-98C22B42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52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9523"/>
                </a:solidFill>
                <a:latin typeface="Malgun Gothic"/>
                <a:ea typeface="Malgun Gothic"/>
                <a:cs typeface="Malgun Gothic"/>
              </a:rPr>
              <a:t>낙상 의심·침대 이탈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011B6-4BB5-4F9B-8599-3C3FEA53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72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대시보드 알림으로 현장 확인 지원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B22D61-9C03-4799-8771-4D45450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4C6D9D-913E-4FCD-9D07-7B4A6AB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210148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B191BC-E94D-4A82-91D4-5BABCBA8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6B66-3DF8-4089-912D-E804A36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ER 다이어그램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90EF0-2EA4-47F1-901F-EE362F09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83291-3E29-4F63-B8A3-F9AE96E9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F77B-E1FD-44B1-8530-4A9206E9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DC884-5EAE-47DA-90BA-C9AF008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A8889-4520-4F73-81DE-0B255889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TB_HOSPITAL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90F7D-E160-4B57-B7AB-7AB7413D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HOSP_DIV_ID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HOSP_NM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3AF31-FE6E-43F6-A36C-71E3398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2A268-EF1A-452D-B791-649EB16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5496B-E0ED-454E-8F42-583B1D67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316DA-52C6-44FD-BF1F-99A44446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478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WARD_ID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HOSP_DIV_ID (FK)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B82A0-403D-4077-A28D-CE33E42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ABDC7-95DB-45F9-8850-8DDFA44B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F97F0-4959-4CFE-A6A5-0B4C780E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F96C3-FF81-467A-92A4-322828E7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WARD_ID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B9C9C-9F33-4545-A42C-699EF8A8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2CF3C-6FB3-4C92-B832-0AF954ED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65888-E791-4483-8F33-AAF8E53C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TB_CAMERA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3775B-75D9-46DE-9ED6-210215ED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478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CAMERA_ID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EDGE_DEVICE_ID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7167D-5802-49D1-8669-CF22B7B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9E98B-D4E8-49BC-8DDB-798CA3B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2CD41-D995-4E1B-8D9F-E247F7B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95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TB_EDGE_DEVICE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59DBF-804E-4B8B-8A19-7717192C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478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EDGE_DEVICE_ID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HOSP_DIV_ID (FK)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71402-C847-464E-AAF5-FB0279BD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ABC1C-4BFE-48C2-8A44-B804FDEF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49034-74F9-46DD-8EE1-BF5C7944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575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TB_DETECTION_EVENT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81BD5-5DA3-431B-8E66-ECB0A574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CAMERA_ID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EVENT_TYPE · DECISION_ST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26354-7EA9-4A2F-9825-5A36520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C6FA3-54D2-4F1A-B1CC-B23957A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803B8-BC33-45CA-9222-BB1B41C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TB_EMP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CCC22-E860-454E-BC06-DFA923B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EMP_ID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WARD_ID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ROLE_CD · AUTH_ST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B372A7-1EC8-47C2-829F-2EE56A9F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51626F-4B5A-4665-AB74-714BEF58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701C6-1E46-4DD1-A0D2-47EDBDE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TB_CAREGIVER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690DA-F4F3-44C5-9ED2-91A470D0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CAREGIVER_ID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LOCATION_ID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USE_YN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56BFA2-FEA4-4406-9898-DA530F9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41631-CB18-44A0-AAA6-C1D1591D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7A01FA-E8C2-4DF4-9E6B-C15EAC0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TB_EVENT_ACTION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9120B-C5D3-4DFB-90A7-E5E9885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ACTION_ID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EVENT_ID (FK, UK)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HANDLER_ID (FK)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72CC57-6460-498E-9BAA-1EBD9C70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7335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F9112C-8BE9-4AE7-9349-DA8A9540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F8BB67-4D95-40F6-A97C-B6FC9E7D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19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TB_SMS_SEND_HISTORY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27E285-C963-4946-AEC7-1E20E9D7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72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SMS_ID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EVENT_ID (FK)</a:t>
            </a:r>
          </a:p>
          <a:p xmlns:a="http://schemas.openxmlformats.org/drawingml/2006/main">
            <a:pPr algn="l">
              <a:def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SEND_STATUS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A11CA8-0DA8-4227-A35E-46590D7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145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6CA4B3-05FF-44D9-BEA1-71D035C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145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134751-BF88-4C36-B940-6C12DEF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D6E343-4329-4C8C-8BA7-5B6247B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DD78F7-CF38-41A6-832B-D4B314A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A994C9-978C-4BC4-999C-828E1A0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33623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1F4744-B8F6-40A5-9C58-DF9472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12382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34C51D-808F-4891-B8BF-2CF3B569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22479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54BA68-7FDF-42BC-83C3-2431262E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91050"/>
            <a:ext cx="43624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A9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0B6391-8264-4C52-A259-E78015D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주요 운영 테이블 간 관계를 단순화하여 표시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D597BE-DD44-4625-BDE7-B4861C41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25A4A1-BC08-4A74-AA16-644DC50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50616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6D526-E0CF-4813-9574-E5937A0D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E3E9-7EE6-4886-9171-929C545A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03  구현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6C6B3-10D3-40CB-8A35-BA6C528A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AI·엣지·웹 관제의 통합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8802E-84A1-445B-A9CE-BF4251A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0395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D2DF3-D133-4742-84E2-68EB88E2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5F799-BEC4-492E-957E-090159BE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사용 언어 및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5BB3-A3EE-461E-8B39-03C9594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D6B0B-579B-4514-9ADD-537848AD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a54507ee14e7f"/>
          <a:stretch xmlns:a="http://schemas.openxmlformats.org/drawingml/2006/main"/>
        </p:blipFill>
        <p:spPr>
          <a:xfrm xmlns:a="http://schemas.openxmlformats.org/drawingml/2006/main">
            <a:off x="666750" y="1815581"/>
            <a:ext cx="5905500" cy="3474487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2AF69-23E6-46CD-A328-3A4B6C0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38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BFA62-3132-409E-B1F0-75AF69F3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Python · OpenCV · YOLO11n-Pose · ByteTrack · SVM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D34C-1E3D-47FB-996D-E87089E3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5EB71-1091-45D8-A61D-AD9A6C9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 Orin Nano · AOC AC310 USB Webcam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2752A-0F66-4087-A786-6C7591D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CEE3A-02DC-466F-A1F8-545DDBD9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Java · Spring Boot · HTML · CSS · JavaScript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0301D-EF55-4C9A-BA6B-C466E75A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Data &amp;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BC7A9-4558-42FB-A3A7-5A9E525E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01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PostgreSQL · MyBatis · REST API · WebSocket/STOMP · SOLAPI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859F8-C732-45BD-9304-29AFC76D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1257C-6D57-4801-B355-5E130B48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489845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D4576-96A4-4827-B780-581F94A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5A97E-4B92-40C5-AA21-9B7ECC9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개발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55BA1-6363-4F49-9C18-2B58D008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FA73F-58A6-4D9C-B806-FA88D948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4B332-C28B-44C6-9729-AA2DD103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E806D-7D25-4F33-A419-1C070A5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BEC12-8444-460E-9136-E28FBED9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90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AI 감지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57900-6666-47A5-91A6-FF08714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YOLO11n-Pose와 ByteTrack으로 관절·이동을 추적하고 SVM으로 낙상·낙상 의심을 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64B4D-885A-4028-ADF5-FFE02129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3078C-FC69-4B89-9D02-8071077C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75F16-553E-490D-A29F-D7C4FFB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침대 이탈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12BD1-5493-4D7F-BD60-4C1FE5F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침대 관심영역(ROI), 골반 중심점, 경과 시간으로 이탈 상태를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A5F87-9E7C-4A63-895B-CDA72298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50FB2-5761-47CB-A6A8-B67CEA1C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4325C-9174-404F-97A2-33A6E30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실시간 연동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195F5-77E3-492C-9583-E1B63AC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Jetson이 JSON 이벤트를 전송하고 WebSocket/STOMP로 대시보드에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50EEC-6FCA-4F4D-B27C-EA81D56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49530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E27AA-501E-422B-90F1-21926F60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C6EEE-5BC3-432A-9D3F-B28B852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데이터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53E8A-8237-4E19-9CB0-52031383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195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감지 이벤트, 조치기록, SMS 발송 결과, 인력 관리 이력을 PostgreSQL에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5240F-27BC-44C5-B9B9-BFE5863C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287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83EAE-86D2-4F37-AEED-A88AA63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엣지 장비 실측: 카메라 입력부터 판정까지 초당 7.6회 처리, 9명이 있는 장면에서도 같은 속도 유지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48AB2-C558-45B9-B987-111A267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C665F-E14C-4C21-B47D-12386C77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800668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C37FD-26F4-421D-BB1B-7D3FB72D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E1B6F-4F0D-4899-8B82-BDB85F7B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73E7B-B684-4080-AD53-DBE5339B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E6088-E091-464F-8EF5-BAE61F2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807bbc0144e8a"/>
          <a:stretch xmlns:a="http://schemas.openxmlformats.org/drawingml/2006/main"/>
        </p:blipFill>
        <p:spPr>
          <a:xfrm xmlns:a="http://schemas.openxmlformats.org/drawingml/2006/main">
            <a:off x="1658938" y="1428750"/>
            <a:ext cx="88741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ADB1-8632-4E6B-B7BC-D7DBC3CC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카메라 영상은 Jetson에서 분석하고, 서버에는 감지 이벤트 정보만 전송합니다.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6D316-1F5E-4B41-A0C9-539CBAB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BD4D8-A125-42DD-B0E0-6A59AD1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20578870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3E504-0E36-4B3D-82F3-611F526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CC86-9739-488C-9F86-67EFD6DE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주요기능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7FC35-2078-4BA2-A3FA-2DD0B27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469AF-95A7-4283-B4E0-0CD1E101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632a7b8242a1"/>
          <a:stretch xmlns:a="http://schemas.openxmlformats.org/drawingml/2006/main"/>
        </p:blipFill>
        <p:spPr>
          <a:xfrm xmlns:a="http://schemas.openxmlformats.org/drawingml/2006/main">
            <a:off x="552450" y="1561374"/>
            <a:ext cx="4953000" cy="2592251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25d4fcfc44ca3"/>
          <a:stretch xmlns:a="http://schemas.openxmlformats.org/drawingml/2006/main"/>
        </p:blipFill>
        <p:spPr>
          <a:xfrm xmlns:a="http://schemas.openxmlformats.org/drawingml/2006/main">
            <a:off x="5810250" y="1515955"/>
            <a:ext cx="4953000" cy="268309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3845606024bc2"/>
          <a:stretch xmlns:a="http://schemas.openxmlformats.org/drawingml/2006/main"/>
        </p:blipFill>
        <p:spPr>
          <a:xfrm xmlns:a="http://schemas.openxmlformats.org/drawingml/2006/main">
            <a:off x="4738839" y="4476750"/>
            <a:ext cx="2542871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EF31C-D21F-4C99-BBA7-91663548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간호사 관제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64D59-172E-464A-B3D4-EEF5726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안전 현황·평면도·알림·현장 대응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06A72-B2F9-44CC-A191-BDEEBC1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88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관리자 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31B06-653E-494F-B419-D8B21009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5767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인력 현황·사고 현황·계정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04873-061F-4849-B577-A89CF4BB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F145A-B726-4E3E-83B0-576BD157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0978202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AACE8-1F25-4E28-94D5-2310711D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1E1F2-88AB-4E1F-A2C8-D13A2C6F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시연 영상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4D896-3877-4E81-BF9A-89EF6962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CD68E-FBCB-4FF8-AA23-889531BF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7574B-E3FD-49FA-82D9-B1E3045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8961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F6DED-3658-4CFF-ABA6-DC50FCDF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9144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58C21-974F-4EC1-A057-111DE82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영상 삽입 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42EFE-2BC6-4670-B7B0-4E4B386D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14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발표 시 실제 서비스 시연 영상으로 교체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29BAE-290F-4C13-89AE-D700E78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시연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B8177-16C9-4EC4-9025-C0B1D74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8C029-9D0B-4A34-90E9-706813B0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카메라 영상에서 위험 상황 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D373F-2F68-4F40-9BC9-9C06D615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5FCE2-36C3-4B34-894D-C6CA7DFB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간호사 대시보드에 발생 위치와 유형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A99AA-6316-45B1-AB68-BFD444DB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6F2C1-A551-4127-8C76-4411E45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낙상 발생 시 SMS 알림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2CA86-DE17-4378-9BE9-0D1FDFF0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F73E6-38D8-4FA6-99D3-28C84F3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대응 등록 후 조치기록 조회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54B39-5DFB-432F-97B5-DC9AE710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※ 영상 파일이 제공되면 이 영역에 삽입할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F40F3-35B8-42FA-848E-D03150C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AE978-9719-489D-8F25-C6DBDA30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8070156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AC0C1-181F-4446-9E3E-DD223042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E813F-4169-4144-AB6C-1E8DDC1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트러블 슈팅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B8DB5-48E8-4689-A266-C29D60A9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A579E-5FBE-42B7-B3D4-5A5624F0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7A0EA-CB61-44F0-B2C1-EB6ECDC0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497B9-32C5-4DB6-875B-11A922AF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240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실제 카메라 환경의 미탐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145CA-22F9-4CB6-8735-A5C3A230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초기 배포 모델은 팀 밖 참여자 영상에서 낙상을 확정 감지하지 못했습니다.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80E45-F8E4-43B6-9918-912FFF45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D816C-8281-4B01-ABF8-5ED91F6C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누운 자세 자료로 추가 학습한 YOLO11n-Pose와 시간 특징 SVM을 적용해 최종 후보에서 14회 중 9회를 확정 감지했습니다.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91B56-DC80-45F4-9D99-BD5C14D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F29E5-CBE7-452E-B180-6FF756D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D5AF8-7DC3-4C79-8196-96626A30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TensorRT 성능 기대와 다른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B23A0-08E0-40D9-86CD-0BEEAE47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TensorRT 변환본이 PyTorch보다 처리 시간이 길었습니다.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FD6F7-1186-40BA-9353-CC3E332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8A718-440C-44C2-923E-23C5B0C7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실측 결과 PyTorch 32.6ms, TensorRT 40.5ms로 확인해 PyTorch 경로를 사용했습니다.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AC967-4EA8-4539-A6B6-A1C5C63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A3421-CB99-487C-A60B-92CF6B20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FB625-21DB-4133-917C-F0C459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전체화면 UI 레이아웃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97F5C-291B-46DA-9117-E4F14C9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291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평면도와 알림 영역의 너비가 화면 크기에 따라 겹칠 수 있었습니다.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1377B-FC9D-4F2E-B593-1D055E13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20513-84BE-41C0-A817-B0CC1F46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3A"/>
                </a:solidFill>
                <a:latin typeface="Malgun Gothic"/>
                <a:ea typeface="Malgun Gothic"/>
                <a:cs typeface="Malgun Gothic"/>
              </a:rPr>
              <a:t>평면도 영역과 알림 목록의 높이·스크롤을 분리해 화면 배치를 조정했습니다.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2E846-F10A-4B86-998A-A9B0FA6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CC65-2213-4A77-9B89-9F3ABB2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4C9B1-886A-4F79-BB36-E7FEB0E3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4536215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80F04-4778-4D3B-8F6C-BD9CB1E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FUTURE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51D0B-3170-4CE2-BC49-277B9531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기대효과 및 활용방안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48AF3-E21B-4EA7-A8F1-BDCEF43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F9B64-FAA7-49B5-B0EE-1FB2CCCA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9A00E-5AFE-407E-B97A-A8A2776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EAC9A-11AD-430B-A03B-7AF5832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빠른 위험 상황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1F4E3-0686-4B88-B8CB-72020A5D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발생 위치와 감지 유형을 화면과 SMS로 전달해 현장 확인을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674D9-FC82-4661-85F1-2A20F123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837CF-03A6-4CE4-9B9A-A8951B7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관찰 부담 보완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2B993-A1F9-43AC-B483-2484B79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여러 CCTV를 계속 확인하는 부담을 줄이고 우선 확인할 위치를 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7543E-0C07-4B85-820D-0498356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FACE0-9336-490B-B9C4-7422B148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사고 대응 이력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CE848-3EA4-4BAC-95D9-E4DC78DD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감지 이벤트, 발송 결과, 조치 내용을 연결해 대응 경과를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441EA-CFC4-4787-9F6E-8DE447D2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43A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F6529-37F1-4B4C-ACED-C5FA254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활용방안과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39428-BB40-4165-BCE3-018AD86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요양병원 안전관리 서비스로 활용한 뒤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노인요양시설과 재활병원으로 적용 범위를 확대합니다.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171EA-B4D1-4330-9904-F97E990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AAB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A9B19-B258-4A4D-900D-62A95DF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3762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향후 병원 서비스 로봇과 연계해</a:t>
            </a:r>
          </a:p>
          <a:p xmlns:a="http://schemas.openxmlformats.org/drawingml/2006/main">
            <a:pPr algn="l">
              <a:def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발생 위치의 현장 확인을 지원할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1B2A8-E362-4164-B945-6828EC23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55A3E-451A-4C2B-B5E4-681723D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2060764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DF49B-3D98-4B09-8E43-2D5C18DA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87A93"/>
                </a:solidFill>
                <a:latin typeface="Malgun Gothic"/>
                <a:ea typeface="Malgun Gothic"/>
                <a:cs typeface="Malgun Gothic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1CA23-16CB-499C-AD3E-6B97607F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팀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DFCD1-62A4-4115-B233-E5C6E92E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3E72A-F622-460B-94D5-9B269F5A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88dd8f6b748fd"/>
          <a:srcRect xmlns:a="http://schemas.openxmlformats.org/drawingml/2006/main" l="0" t="1412" r="0" b="1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85900"/>
            <a:ext cx="56197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3009E-0152-436A-98D9-DC12841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3A57"/>
                </a:solidFill>
                <a:latin typeface="Malgun Gothic"/>
                <a:ea typeface="Malgun Gothic"/>
                <a:cs typeface="Malgun Gothic"/>
              </a:rPr>
              <a:t>ALL IN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C5354-0BAA-4546-97F3-0441F8F7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임채현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4F5F4-A84F-4918-8453-1D1DA70E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PM · Full-Stack · Data Modeling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5EDAF-8A2A-49CC-9F94-9A4EE24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구예진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0C61B-AD72-479A-BE37-CA1A366E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Full-Stack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B7594-6C3E-4DA1-A2BB-0139C6B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구정경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A4E6C-55E5-4CC9-9C73-3F784BB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Full-Stack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C560D-5DA8-4DCC-9E4E-DFF6794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김태헌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31E6D-94CC-4155-BBE4-62AB1AB7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서버 구현 · Front-end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D9511-CF26-4582-9ED2-D62F1E91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C6254"/>
                </a:solidFill>
                <a:latin typeface="Malgun Gothic"/>
                <a:ea typeface="Malgun Gothic"/>
                <a:cs typeface="Malgun Gothic"/>
              </a:rPr>
              <a:t>박건희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A4CD7-636A-41E0-8B56-C760D0B6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Data Modeling · Full-Stack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9D03C-ECE9-4F13-87C9-D45B87C6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86B6E-A95E-4C9B-B386-E1F44173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07789"/>
                </a:solidFill>
                <a:latin typeface="Malgun Gothic"/>
                <a:ea typeface="Malgun Gothic"/>
                <a:cs typeface="Malgun Gothic"/>
              </a:rPr>
              <a:t>ALLEYES  |  시각지능 기반 요양병원 위험상황 감지 서비스</a:t>
            </a:r>
          </a:p>
        </p:txBody>
      </p:sp>
    </p:spTree>
    <p:extLst>
      <p:ext uri="{BB962C8B-B14F-4D97-AF65-F5344CB8AC3E}">
        <p14:creationId xmlns:p14="http://schemas.microsoft.com/office/powerpoint/2010/main" val="1951149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4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B1A73-D737-4969-98D7-3590DB0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ALLEYES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0402C-1510-48E9-B405-34AA9C2A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감지부터 대응까지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안전을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ED607-5596-476E-B3EF-DFADFD4C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2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0B2ED-5C93-4743-A423-E1FFD0DE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EAF2F7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ED0C8-06B4-4AC7-83C1-8EF5B171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ALL IN ONE</a:t>
            </a:r>
          </a:p>
        </p:txBody>
      </p:sp>
    </p:spTree>
    <p:extLst>
      <p:ext uri="{BB962C8B-B14F-4D97-AF65-F5344CB8AC3E}">
        <p14:creationId xmlns:p14="http://schemas.microsoft.com/office/powerpoint/2010/main" val="279709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2026-09-27T06:09:22.1160000Z</dcterms:created>
  <dcterms:modified xsi:type="dcterms:W3CDTF">2026-09-27T06:09:22.1170000Z</dcterms:modified>
</coreProperties>
</file>